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7" r:id="rId2"/>
    <p:sldId id="268" r:id="rId3"/>
    <p:sldId id="259" r:id="rId4"/>
    <p:sldId id="260" r:id="rId5"/>
    <p:sldId id="261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E404C465-6609-490F-8C96-E25B7CFE7A74}"/>
              </a:ext>
            </a:extLst>
          </p:cNvPr>
          <p:cNvSpPr/>
          <p:nvPr/>
        </p:nvSpPr>
        <p:spPr>
          <a:xfrm>
            <a:off x="6362700" y="590550"/>
            <a:ext cx="5219700" cy="3238500"/>
          </a:xfrm>
          <a:prstGeom prst="roundRect">
            <a:avLst/>
          </a:prstGeom>
          <a:solidFill>
            <a:srgbClr val="142A55"/>
          </a:solidFill>
        </p:spPr>
        <p:txBody>
          <a:bodyPr wrap="square" rtlCol="0"/>
          <a:lstStyle/>
          <a:p>
            <a:endParaRPr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35926BA5-1FDB-4DEF-9422-28866884D9F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591300" y="819150"/>
            <a:ext cx="4762500" cy="2714625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77383727-B1AC-4908-943C-4E0809072CE5}"/>
              </a:ext>
            </a:extLst>
          </p:cNvPr>
          <p:cNvSpPr txBox="1"/>
          <p:nvPr/>
        </p:nvSpPr>
        <p:spPr>
          <a:xfrm>
            <a:off x="762000" y="838200"/>
            <a:ext cx="53340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400" b="1">
                <a:solidFill>
                  <a:srgbClr val="93B4FF"/>
                </a:solidFill>
                <a:latin typeface="Segoe UI"/>
                <a:ea typeface="Segoe UI"/>
              </a:rPr>
              <a:t>SEMESTER 3  ·  OBJECT-ORIENTED PROGRAMMING IN JAVA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3E65E98-E47E-4C50-894A-B0E27A5CBF2B}"/>
              </a:ext>
            </a:extLst>
          </p:cNvPr>
          <p:cNvSpPr txBox="1"/>
          <p:nvPr/>
        </p:nvSpPr>
        <p:spPr>
          <a:xfrm>
            <a:off x="742950" y="1333500"/>
            <a:ext cx="5334000" cy="12382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8FAFC"/>
                </a:solidFill>
                <a:latin typeface="Segoe UI"/>
                <a:ea typeface="Segoe UI"/>
              </a:rPr>
              <a:t>VoteSecure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D1F89FD-A210-489E-930F-C8D559FDEE00}"/>
              </a:ext>
            </a:extLst>
          </p:cNvPr>
          <p:cNvSpPr txBox="1"/>
          <p:nvPr/>
        </p:nvSpPr>
        <p:spPr>
          <a:xfrm>
            <a:off x="762000" y="2857500"/>
            <a:ext cx="5334000" cy="514350"/>
          </a:xfrm>
        </p:spPr>
        <p:txBody>
          <a:bodyPr wrap="square" lIns="0" tIns="0" rIns="0" bIns="0" rtlCol="0" anchor="t"/>
          <a:lstStyle/>
          <a:p>
            <a:pPr algn="l"/>
            <a:r>
              <a:rPr sz="2800">
                <a:solidFill>
                  <a:srgbClr val="DCE6F8"/>
                </a:solidFill>
                <a:latin typeface="Segoe UI"/>
                <a:ea typeface="Segoe UI"/>
              </a:rPr>
              <a:t>Online Voting System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BDDDDDF-6DD9-4FA5-B0EC-478C662B0C12}"/>
              </a:ext>
            </a:extLst>
          </p:cNvPr>
          <p:cNvSpPr txBox="1"/>
          <p:nvPr/>
        </p:nvSpPr>
        <p:spPr>
          <a:xfrm>
            <a:off x="762000" y="3562350"/>
            <a:ext cx="5143500" cy="10477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8000"/>
              </a:lnSpc>
            </a:pPr>
            <a:r>
              <a:rPr sz="1800">
                <a:solidFill>
                  <a:srgbClr val="C7D2E8"/>
                </a:solidFill>
                <a:latin typeface="Segoe UI"/>
                <a:ea typeface="Segoe UI"/>
              </a:rPr>
              <a:t>A local Java desktop application that registers voters, enforces one ballot per voter and exports auditable results.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57656C0-EA56-4150-8948-1E5088CE25D5}"/>
              </a:ext>
            </a:extLst>
          </p:cNvPr>
          <p:cNvSpPr txBox="1"/>
          <p:nvPr/>
        </p:nvSpPr>
        <p:spPr>
          <a:xfrm>
            <a:off x="762000" y="5829300"/>
            <a:ext cx="53340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400">
                <a:solidFill>
                  <a:srgbClr val="93B4FF"/>
                </a:solidFill>
                <a:latin typeface="Segoe UI"/>
                <a:ea typeface="Segoe UI"/>
              </a:rPr>
              <a:t>Java 17  ·  Swing  ·  SQLite  ·  JDBC  ·  JUnit 5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7FFA60C-9272-4665-9CBB-C1B1B88D77FC}"/>
              </a:ext>
            </a:extLst>
          </p:cNvPr>
          <p:cNvSpPr txBox="1"/>
          <p:nvPr/>
        </p:nvSpPr>
        <p:spPr>
          <a:xfrm>
            <a:off x="762000" y="6153150"/>
            <a:ext cx="53340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8FA3C4"/>
                </a:solidFill>
                <a:latin typeface="Segoe UI"/>
                <a:ea typeface="Segoe UI"/>
              </a:rPr>
              <a:t>Academic local prototype — not a production election platform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18A31B1-11FF-431C-8EBD-3A5B34BD9D94}"/>
              </a:ext>
            </a:extLst>
          </p:cNvPr>
          <p:cNvSpPr txBox="1"/>
          <p:nvPr/>
        </p:nvSpPr>
        <p:spPr>
          <a:xfrm>
            <a:off x="6591300" y="3638550"/>
            <a:ext cx="47625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93B4FF"/>
                </a:solidFill>
                <a:latin typeface="Segoe UI"/>
                <a:ea typeface="Segoe UI"/>
              </a:rPr>
              <a:t>Candidate listing — live desktop capture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5D31436-72E3-4867-ADC8-0097D7419A63}"/>
              </a:ext>
            </a:extLst>
          </p:cNvPr>
          <p:cNvSpPr txBox="1"/>
          <p:nvPr/>
        </p:nvSpPr>
        <p:spPr>
          <a:xfrm>
            <a:off x="762000" y="457200"/>
            <a:ext cx="40005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400" b="1">
                <a:solidFill>
                  <a:srgbClr val="1D4ED8"/>
                </a:solidFill>
                <a:latin typeface="Segoe UI"/>
                <a:ea typeface="Segoe UI"/>
              </a:rPr>
              <a:t>THE PROBLEM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11064CC-AD40-4861-926C-A23882FE3351}"/>
              </a:ext>
            </a:extLst>
          </p:cNvPr>
          <p:cNvSpPr txBox="1"/>
          <p:nvPr/>
        </p:nvSpPr>
        <p:spPr>
          <a:xfrm>
            <a:off x="742950" y="742950"/>
            <a:ext cx="10668000" cy="762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11827"/>
                </a:solidFill>
                <a:latin typeface="Segoe UI"/>
                <a:ea typeface="Segoe UI"/>
              </a:rPr>
              <a:t>Paper and spreadsheets do not enforce the rules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81F6D60-540F-4025-AAD6-9BF773DC0FA3}"/>
              </a:ext>
            </a:extLst>
          </p:cNvPr>
          <p:cNvSpPr txBox="1"/>
          <p:nvPr/>
        </p:nvSpPr>
        <p:spPr>
          <a:xfrm>
            <a:off x="762000" y="1619250"/>
            <a:ext cx="10477500" cy="4572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2000"/>
              </a:lnSpc>
            </a:pPr>
            <a:r>
              <a:rPr sz="1600">
                <a:solidFill>
                  <a:srgbClr val="475569"/>
                </a:solidFill>
                <a:latin typeface="Segoe UI"/>
                <a:ea typeface="Segoe UI"/>
              </a:rPr>
              <a:t>The gap is not counting speed — it is trust: who is eligible, when voting is open, and whether a ballot is unique.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747B99F6-C908-46A9-90DA-3F41A882052F}"/>
              </a:ext>
            </a:extLst>
          </p:cNvPr>
          <p:cNvSpPr/>
          <p:nvPr/>
        </p:nvSpPr>
        <p:spPr>
          <a:xfrm>
            <a:off x="762000" y="2209800"/>
            <a:ext cx="5143500" cy="3714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rtlCol="0"/>
          <a:lstStyle/>
          <a:p>
            <a:endParaRPr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036618DB-3115-440A-9E1A-CCC7C7D4383E}"/>
              </a:ext>
            </a:extLst>
          </p:cNvPr>
          <p:cNvSpPr/>
          <p:nvPr/>
        </p:nvSpPr>
        <p:spPr>
          <a:xfrm>
            <a:off x="6286500" y="2209800"/>
            <a:ext cx="5143500" cy="3714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rtlCol="0"/>
          <a:lstStyle/>
          <a:p>
            <a:endParaRPr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07ADA5F-7349-4977-B7CC-0C94DC7F3971}"/>
              </a:ext>
            </a:extLst>
          </p:cNvPr>
          <p:cNvSpPr txBox="1"/>
          <p:nvPr/>
        </p:nvSpPr>
        <p:spPr>
          <a:xfrm>
            <a:off x="1047750" y="2476500"/>
            <a:ext cx="4572000" cy="381000"/>
          </a:xfrm>
        </p:spPr>
        <p:txBody>
          <a:bodyPr wrap="square" lIns="0" tIns="0" rIns="0" bIns="0" rtlCol="0" anchor="t"/>
          <a:lstStyle/>
          <a:p>
            <a:pPr algn="l"/>
            <a:r>
              <a:rPr sz="2300" b="1">
                <a:solidFill>
                  <a:srgbClr val="111827"/>
                </a:solidFill>
                <a:latin typeface="Segoe UI"/>
                <a:ea typeface="Segoe UI"/>
              </a:rPr>
              <a:t>Paper and spreadsheets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F2D4588-099E-4726-A470-6AC2877D072E}"/>
              </a:ext>
            </a:extLst>
          </p:cNvPr>
          <p:cNvSpPr txBox="1"/>
          <p:nvPr/>
        </p:nvSpPr>
        <p:spPr>
          <a:xfrm>
            <a:off x="1047750" y="2952750"/>
            <a:ext cx="45720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B42318"/>
                </a:solidFill>
                <a:latin typeface="Segoe UI"/>
                <a:ea typeface="Segoe UI"/>
              </a:rPr>
              <a:t>WHAT GOES WRONG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A564643-DFD9-41E1-8C0B-0DBA776497F9}"/>
              </a:ext>
            </a:extLst>
          </p:cNvPr>
          <p:cNvSpPr txBox="1"/>
          <p:nvPr/>
        </p:nvSpPr>
        <p:spPr>
          <a:xfrm>
            <a:off x="1047750" y="3333750"/>
            <a:ext cx="4572000" cy="2381250"/>
          </a:xfrm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5000"/>
              </a:lnSpc>
              <a:spcAft>
                <a:spcPts val="1200"/>
              </a:spcAft>
              <a:buChar char="•"/>
            </a:pPr>
            <a:r>
              <a:rPr sz="1500">
                <a:solidFill>
                  <a:srgbClr val="111827"/>
                </a:solidFill>
                <a:latin typeface="Segoe UI"/>
                <a:ea typeface="Segoe UI"/>
              </a:rPr>
              <a:t>Duplicate or fictitious entries go unnoticed</a:t>
            </a:r>
          </a:p>
          <a:p>
            <a:pPr marL="228600" indent="-228600" algn="l">
              <a:lnSpc>
                <a:spcPct val="115000"/>
              </a:lnSpc>
              <a:spcAft>
                <a:spcPts val="1200"/>
              </a:spcAft>
              <a:buChar char="•"/>
            </a:pPr>
            <a:r>
              <a:rPr sz="1500">
                <a:solidFill>
                  <a:srgbClr val="111827"/>
                </a:solidFill>
                <a:latin typeface="Segoe UI"/>
                <a:ea typeface="Segoe UI"/>
              </a:rPr>
              <a:t>Eligibility is informal and easy to dispute</a:t>
            </a:r>
          </a:p>
          <a:p>
            <a:pPr marL="228600" indent="-228600" algn="l">
              <a:lnSpc>
                <a:spcPct val="115000"/>
              </a:lnSpc>
              <a:spcAft>
                <a:spcPts val="1200"/>
              </a:spcAft>
              <a:buChar char="•"/>
            </a:pPr>
            <a:r>
              <a:rPr sz="1500">
                <a:solidFill>
                  <a:srgbClr val="111827"/>
                </a:solidFill>
                <a:latin typeface="Segoe UI"/>
                <a:ea typeface="Segoe UI"/>
              </a:rPr>
              <a:t>Manual counting is slow and cannot be repeated</a:t>
            </a:r>
          </a:p>
          <a:p>
            <a:pPr marL="228600" indent="-228600" algn="l">
              <a:lnSpc>
                <a:spcPct val="115000"/>
              </a:lnSpc>
              <a:spcAft>
                <a:spcPts val="0"/>
              </a:spcAft>
              <a:buChar char="•"/>
            </a:pPr>
            <a:r>
              <a:rPr sz="1500">
                <a:solidFill>
                  <a:srgbClr val="111827"/>
                </a:solidFill>
                <a:latin typeface="Segoe UI"/>
                <a:ea typeface="Segoe UI"/>
              </a:rPr>
              <a:t>No consistent report, tie rule or zero-vote handling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40071FC-A076-49AE-BFF7-98828C31F0D4}"/>
              </a:ext>
            </a:extLst>
          </p:cNvPr>
          <p:cNvSpPr txBox="1"/>
          <p:nvPr/>
        </p:nvSpPr>
        <p:spPr>
          <a:xfrm>
            <a:off x="6572250" y="2476500"/>
            <a:ext cx="4572000" cy="381000"/>
          </a:xfrm>
        </p:spPr>
        <p:txBody>
          <a:bodyPr wrap="square" lIns="0" tIns="0" rIns="0" bIns="0" rtlCol="0" anchor="t"/>
          <a:lstStyle/>
          <a:p>
            <a:pPr algn="l"/>
            <a:r>
              <a:rPr sz="2300" b="1">
                <a:solidFill>
                  <a:srgbClr val="111827"/>
                </a:solidFill>
                <a:latin typeface="Segoe UI"/>
                <a:ea typeface="Segoe UI"/>
              </a:rPr>
              <a:t>VoteSecure’s rules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70D710B-B440-41B8-8EB2-2F4C2851397E}"/>
              </a:ext>
            </a:extLst>
          </p:cNvPr>
          <p:cNvSpPr txBox="1"/>
          <p:nvPr/>
        </p:nvSpPr>
        <p:spPr>
          <a:xfrm>
            <a:off x="6572250" y="2952750"/>
            <a:ext cx="45720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 b="1">
                <a:solidFill>
                  <a:srgbClr val="0F7B4F"/>
                </a:solidFill>
                <a:latin typeface="Segoe UI"/>
                <a:ea typeface="Segoe UI"/>
              </a:rPr>
              <a:t>WHAT THE APPLICATION ENFORCES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4BF6534-52F0-4DCC-8495-C735040955E5}"/>
              </a:ext>
            </a:extLst>
          </p:cNvPr>
          <p:cNvSpPr txBox="1"/>
          <p:nvPr/>
        </p:nvSpPr>
        <p:spPr>
          <a:xfrm>
            <a:off x="6572250" y="3333750"/>
            <a:ext cx="4572000" cy="2381250"/>
          </a:xfrm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5000"/>
              </a:lnSpc>
              <a:spcAft>
                <a:spcPts val="1200"/>
              </a:spcAft>
              <a:buChar char="•"/>
            </a:pPr>
            <a:r>
              <a:rPr sz="1500">
                <a:solidFill>
                  <a:srgbClr val="111827"/>
                </a:solidFill>
                <a:latin typeface="Segoe UI"/>
                <a:ea typeface="Segoe UI"/>
              </a:rPr>
              <a:t>Unique IDs; PINs stored only as salted hashes</a:t>
            </a:r>
          </a:p>
          <a:p>
            <a:pPr marL="228600" indent="-228600" algn="l">
              <a:lnSpc>
                <a:spcPct val="115000"/>
              </a:lnSpc>
              <a:spcAft>
                <a:spcPts val="1200"/>
              </a:spcAft>
              <a:buChar char="•"/>
            </a:pPr>
            <a:r>
              <a:rPr sz="1500">
                <a:solidFill>
                  <a:srgbClr val="111827"/>
                </a:solidFill>
                <a:latin typeface="Segoe UI"/>
                <a:ea typeface="Segoe UI"/>
              </a:rPr>
              <a:t>One ballot per voter, checked in service and DB</a:t>
            </a:r>
          </a:p>
          <a:p>
            <a:pPr marL="228600" indent="-228600" algn="l">
              <a:lnSpc>
                <a:spcPct val="115000"/>
              </a:lnSpc>
              <a:spcAft>
                <a:spcPts val="1200"/>
              </a:spcAft>
              <a:buChar char="•"/>
            </a:pPr>
            <a:r>
              <a:rPr sz="1500">
                <a:solidFill>
                  <a:srgbClr val="111827"/>
                </a:solidFill>
                <a:latin typeface="Segoe UI"/>
                <a:ea typeface="Segoe UI"/>
              </a:rPr>
              <a:t>Voting only while start ≤ now &lt; end</a:t>
            </a:r>
          </a:p>
          <a:p>
            <a:pPr marL="228600" indent="-228600" algn="l">
              <a:lnSpc>
                <a:spcPct val="115000"/>
              </a:lnSpc>
              <a:spcAft>
                <a:spcPts val="0"/>
              </a:spcAft>
              <a:buChar char="•"/>
            </a:pPr>
            <a:r>
              <a:rPr sz="1500">
                <a:solidFill>
                  <a:srgbClr val="111827"/>
                </a:solidFill>
                <a:latin typeface="Segoe UI"/>
                <a:ea typeface="Segoe UI"/>
              </a:rPr>
              <a:t>Config freezes after the first vote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9450EA2-6094-4D6F-B3AC-6D7B85EFD1F6}"/>
              </a:ext>
            </a:extLst>
          </p:cNvPr>
          <p:cNvSpPr txBox="1"/>
          <p:nvPr/>
        </p:nvSpPr>
        <p:spPr>
          <a:xfrm>
            <a:off x="762000" y="6172200"/>
            <a:ext cx="106680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64748B"/>
                </a:solidFill>
                <a:latin typeface="Segoe UI"/>
                <a:ea typeface="Segoe UI"/>
              </a:rPr>
              <a:t>Scope: one election on one computer, with an administrator and an eligible-voter roll. Production Internet voting is out of scope.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173F0422-8879-430C-B6B7-A6BC9329329C}"/>
              </a:ext>
            </a:extLst>
          </p:cNvPr>
          <p:cNvSpPr txBox="1"/>
          <p:nvPr/>
        </p:nvSpPr>
        <p:spPr>
          <a:xfrm>
            <a:off x="762000" y="457200"/>
            <a:ext cx="40005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400" b="1">
                <a:solidFill>
                  <a:srgbClr val="1D4ED8"/>
                </a:solidFill>
                <a:latin typeface="Segoe UI"/>
                <a:ea typeface="Segoe UI"/>
              </a:rPr>
              <a:t>ARCHITECTURE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06E3ABC-2181-4F6C-B9E4-8DBF0ADB0495}"/>
              </a:ext>
            </a:extLst>
          </p:cNvPr>
          <p:cNvSpPr txBox="1"/>
          <p:nvPr/>
        </p:nvSpPr>
        <p:spPr>
          <a:xfrm>
            <a:off x="742950" y="742950"/>
            <a:ext cx="10668000" cy="762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11827"/>
                </a:solidFill>
                <a:latin typeface="Segoe UI"/>
                <a:ea typeface="Segoe UI"/>
              </a:rPr>
              <a:t>A layered design keeps rules out of the UI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C07E4AA-9460-4F06-9422-C7DCFFE528DA}"/>
              </a:ext>
            </a:extLst>
          </p:cNvPr>
          <p:cNvSpPr txBox="1"/>
          <p:nvPr/>
        </p:nvSpPr>
        <p:spPr>
          <a:xfrm>
            <a:off x="762000" y="1600200"/>
            <a:ext cx="10477500" cy="518160"/>
          </a:xfrm>
        </p:spPr>
        <p:txBody>
          <a:bodyPr wrap="square" lIns="0" tIns="0" rIns="0" bIns="0" rtlCol="0" anchor="t"/>
          <a:lstStyle/>
          <a:p>
            <a:pPr algn="l"/>
            <a:r>
              <a:rPr sz="1700">
                <a:solidFill>
                  <a:srgbClr val="475569"/>
                </a:solidFill>
                <a:latin typeface="Segoe UI"/>
                <a:ea typeface="Segoe UI"/>
              </a:rPr>
              <a:t>Each layer depends only on the one below it. The Swing screens never execute SQL, and the services never paint a pixel.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CEB6D9B3-4067-4F03-A3DC-954128126E03}"/>
              </a:ext>
            </a:extLst>
          </p:cNvPr>
          <p:cNvSpPr/>
          <p:nvPr/>
        </p:nvSpPr>
        <p:spPr>
          <a:xfrm>
            <a:off x="762000" y="2209800"/>
            <a:ext cx="51435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rtlCol="0"/>
          <a:lstStyle/>
          <a:p>
            <a:endParaRPr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6450D82B-BD36-4AC6-A814-B2C1F17AED5B}"/>
              </a:ext>
            </a:extLst>
          </p:cNvPr>
          <p:cNvSpPr/>
          <p:nvPr/>
        </p:nvSpPr>
        <p:spPr>
          <a:xfrm>
            <a:off x="762000" y="2914650"/>
            <a:ext cx="5143500" cy="609600"/>
          </a:xfrm>
          <a:prstGeom prst="roundRect">
            <a:avLst/>
          </a:prstGeom>
          <a:solidFill>
            <a:srgbClr val="E8EEFB"/>
          </a:solidFill>
          <a:ln w="12700">
            <a:solidFill>
              <a:srgbClr val="B9CCEF"/>
            </a:solidFill>
          </a:ln>
        </p:spPr>
        <p:txBody>
          <a:bodyPr wrap="square" rtlCol="0"/>
          <a:lstStyle/>
          <a:p>
            <a:endParaRPr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886A2A77-549E-44D6-98D7-12FB9080D8D4}"/>
              </a:ext>
            </a:extLst>
          </p:cNvPr>
          <p:cNvSpPr/>
          <p:nvPr/>
        </p:nvSpPr>
        <p:spPr>
          <a:xfrm>
            <a:off x="762000" y="3619500"/>
            <a:ext cx="51435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rtlCol="0"/>
          <a:lstStyle/>
          <a:p>
            <a:endParaRPr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FECD209C-8773-45E0-877A-E537D5E11710}"/>
              </a:ext>
            </a:extLst>
          </p:cNvPr>
          <p:cNvSpPr/>
          <p:nvPr/>
        </p:nvSpPr>
        <p:spPr>
          <a:xfrm>
            <a:off x="762000" y="4324350"/>
            <a:ext cx="51435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rtlCol="0"/>
          <a:lstStyle/>
          <a:p>
            <a:endParaRPr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0EA90167-F004-4D4A-8290-BFC72F30ADF5}"/>
              </a:ext>
            </a:extLst>
          </p:cNvPr>
          <p:cNvSpPr/>
          <p:nvPr/>
        </p:nvSpPr>
        <p:spPr>
          <a:xfrm>
            <a:off x="762000" y="5029200"/>
            <a:ext cx="51435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rtlCol="0"/>
          <a:lstStyle/>
          <a:p>
            <a:endParaRPr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B2A76C1-2C26-4321-B386-0E0D71CA4509}"/>
              </a:ext>
            </a:extLst>
          </p:cNvPr>
          <p:cNvSpPr txBox="1"/>
          <p:nvPr/>
        </p:nvSpPr>
        <p:spPr>
          <a:xfrm>
            <a:off x="971550" y="2276475"/>
            <a:ext cx="4762500" cy="476250"/>
          </a:xfrm>
        </p:spPr>
        <p:txBody>
          <a:bodyPr wrap="square" lIns="0" tIns="0" rIns="0" bIns="0" rtlCol="0" anchor="ctr"/>
          <a:lstStyle/>
          <a:p>
            <a:pPr algn="l"/>
            <a:r>
              <a:rPr sz="1800" b="1">
                <a:solidFill>
                  <a:srgbClr val="1D4ED8"/>
                </a:solidFill>
                <a:latin typeface="Segoe UI"/>
                <a:ea typeface="Segoe UI"/>
              </a:rPr>
              <a:t>ui</a:t>
            </a:r>
            <a:r>
              <a:rPr sz="1400">
                <a:solidFill>
                  <a:srgbClr val="334155"/>
                </a:solidFill>
                <a:latin typeface="Segoe UI"/>
                <a:ea typeface="Segoe UI"/>
              </a:rPr>
              <a:t>  12 Swing screens · theme · dialogs · table models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B646DAE-932E-4AD2-B878-00236458B020}"/>
              </a:ext>
            </a:extLst>
          </p:cNvPr>
          <p:cNvSpPr txBox="1"/>
          <p:nvPr/>
        </p:nvSpPr>
        <p:spPr>
          <a:xfrm>
            <a:off x="971550" y="2981325"/>
            <a:ext cx="4762500" cy="476250"/>
          </a:xfrm>
        </p:spPr>
        <p:txBody>
          <a:bodyPr wrap="square" lIns="0" tIns="0" rIns="0" bIns="0" rtlCol="0" anchor="ctr"/>
          <a:lstStyle/>
          <a:p>
            <a:pPr algn="l"/>
            <a:r>
              <a:rPr sz="1800" b="1">
                <a:solidFill>
                  <a:srgbClr val="1D4ED8"/>
                </a:solidFill>
                <a:latin typeface="Segoe UI"/>
                <a:ea typeface="Segoe UI"/>
              </a:rPr>
              <a:t>service</a:t>
            </a:r>
            <a:r>
              <a:rPr sz="1300">
                <a:solidFill>
                  <a:srgbClr val="334155"/>
                </a:solidFill>
                <a:latin typeface="Segoe UI"/>
                <a:ea typeface="Segoe UI"/>
              </a:rPr>
              <a:t>  VotingManager · ElectionService · ResultsService · AdminService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E83AEE1-5ECB-4FD6-A6D3-54C3CA041E03}"/>
              </a:ext>
            </a:extLst>
          </p:cNvPr>
          <p:cNvSpPr txBox="1"/>
          <p:nvPr/>
        </p:nvSpPr>
        <p:spPr>
          <a:xfrm>
            <a:off x="971550" y="3686175"/>
            <a:ext cx="4762500" cy="476250"/>
          </a:xfrm>
        </p:spPr>
        <p:txBody>
          <a:bodyPr wrap="square" lIns="0" tIns="0" rIns="0" bIns="0" rtlCol="0" anchor="ctr"/>
          <a:lstStyle/>
          <a:p>
            <a:pPr algn="l"/>
            <a:r>
              <a:rPr sz="1800" b="1">
                <a:solidFill>
                  <a:srgbClr val="1D4ED8"/>
                </a:solidFill>
                <a:latin typeface="Segoe UI"/>
                <a:ea typeface="Segoe UI"/>
              </a:rPr>
              <a:t>repository</a:t>
            </a:r>
            <a:r>
              <a:rPr sz="1300">
                <a:solidFill>
                  <a:srgbClr val="334155"/>
                </a:solidFill>
                <a:latin typeface="Segoe UI"/>
                <a:ea typeface="Segoe UI"/>
              </a:rPr>
              <a:t>  5 interfaces + JDBC implementations · all SQL lives here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0161441-DD61-404B-B41F-AEF418DB7DC2}"/>
              </a:ext>
            </a:extLst>
          </p:cNvPr>
          <p:cNvSpPr txBox="1"/>
          <p:nvPr/>
        </p:nvSpPr>
        <p:spPr>
          <a:xfrm>
            <a:off x="971550" y="4391025"/>
            <a:ext cx="4762500" cy="476250"/>
          </a:xfrm>
        </p:spPr>
        <p:txBody>
          <a:bodyPr wrap="square" lIns="0" tIns="0" rIns="0" bIns="0" rtlCol="0" anchor="ctr"/>
          <a:lstStyle/>
          <a:p>
            <a:pPr algn="l"/>
            <a:r>
              <a:rPr sz="1800" b="1">
                <a:solidFill>
                  <a:srgbClr val="1D4ED8"/>
                </a:solidFill>
                <a:latin typeface="Segoe UI"/>
                <a:ea typeface="Segoe UI"/>
              </a:rPr>
              <a:t>database</a:t>
            </a:r>
            <a:r>
              <a:rPr sz="1300">
                <a:solidFill>
                  <a:srgbClr val="334155"/>
                </a:solidFill>
                <a:latin typeface="Segoe UI"/>
                <a:ea typeface="Segoe UI"/>
              </a:rPr>
              <a:t>  DatabaseManager · connections · schema · demonstration seed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4E39310-5881-422B-B5D8-D9B0FB9F6B0B}"/>
              </a:ext>
            </a:extLst>
          </p:cNvPr>
          <p:cNvSpPr txBox="1"/>
          <p:nvPr/>
        </p:nvSpPr>
        <p:spPr>
          <a:xfrm>
            <a:off x="971550" y="5095875"/>
            <a:ext cx="4762500" cy="476250"/>
          </a:xfrm>
        </p:spPr>
        <p:txBody>
          <a:bodyPr wrap="square" lIns="0" tIns="0" rIns="0" bIns="0" rtlCol="0" anchor="ctr"/>
          <a:lstStyle/>
          <a:p>
            <a:pPr algn="l"/>
            <a:r>
              <a:rPr sz="1800" b="1">
                <a:solidFill>
                  <a:srgbClr val="1D4ED8"/>
                </a:solidFill>
                <a:latin typeface="Segoe UI"/>
                <a:ea typeface="Segoe UI"/>
              </a:rPr>
              <a:t>model · exception · util</a:t>
            </a:r>
            <a:r>
              <a:rPr sz="1300">
                <a:solidFill>
                  <a:srgbClr val="334155"/>
                </a:solidFill>
                <a:latin typeface="Segoe UI"/>
                <a:ea typeface="Segoe UI"/>
              </a:rPr>
              <a:t>  domain objects · failure types · PBKDF2 · validation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5C81A7C-7F18-41A1-94EF-362A4946EDA8}"/>
              </a:ext>
            </a:extLst>
          </p:cNvPr>
          <p:cNvSpPr txBox="1"/>
          <p:nvPr/>
        </p:nvSpPr>
        <p:spPr>
          <a:xfrm>
            <a:off x="6286500" y="2209800"/>
            <a:ext cx="5143500" cy="381000"/>
          </a:xfrm>
        </p:spPr>
        <p:txBody>
          <a:bodyPr wrap="square" lIns="0" tIns="0" rIns="0" bIns="0" rtlCol="0" anchor="t"/>
          <a:lstStyle/>
          <a:p>
            <a:pPr algn="l"/>
            <a:r>
              <a:rPr sz="2400" b="1">
                <a:solidFill>
                  <a:srgbClr val="111827"/>
                </a:solidFill>
                <a:latin typeface="Segoe UI"/>
                <a:ea typeface="Segoe UI"/>
              </a:rPr>
              <a:t>OOP in practice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058A695-CEEF-4C71-92D6-445F72A8444B}"/>
              </a:ext>
            </a:extLst>
          </p:cNvPr>
          <p:cNvSpPr txBox="1"/>
          <p:nvPr/>
        </p:nvSpPr>
        <p:spPr>
          <a:xfrm>
            <a:off x="6286500" y="2743200"/>
            <a:ext cx="5143500" cy="31432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6000"/>
              </a:lnSpc>
              <a:spcAft>
                <a:spcPts val="1500"/>
              </a:spcAft>
            </a:pPr>
            <a:r>
              <a:rPr sz="1700" b="1">
                <a:solidFill>
                  <a:srgbClr val="1D4ED8"/>
                </a:solidFill>
                <a:latin typeface="Segoe UI"/>
                <a:ea typeface="Segoe UI"/>
              </a:rPr>
              <a:t>Encapsulation</a:t>
            </a:r>
            <a:r>
              <a:rPr sz="1500">
                <a:solidFill>
                  <a:srgbClr val="334155"/>
                </a:solidFill>
                <a:latin typeface="Segoe UI"/>
                <a:ea typeface="Segoe UI"/>
              </a:rPr>
              <a:t> — private fields and guarded constructors; Election owns the window rule.</a:t>
            </a:r>
          </a:p>
          <a:p>
            <a:pPr algn="l">
              <a:lnSpc>
                <a:spcPct val="116000"/>
              </a:lnSpc>
              <a:spcAft>
                <a:spcPts val="1500"/>
              </a:spcAft>
            </a:pPr>
            <a:r>
              <a:rPr sz="1700" b="1">
                <a:solidFill>
                  <a:srgbClr val="1D4ED8"/>
                </a:solidFill>
                <a:latin typeface="Segoe UI"/>
                <a:ea typeface="Segoe UI"/>
              </a:rPr>
              <a:t>Abstraction</a:t>
            </a:r>
            <a:r>
              <a:rPr sz="1500">
                <a:solidFill>
                  <a:srgbClr val="334155"/>
                </a:solidFill>
                <a:latin typeface="Segoe UI"/>
                <a:ea typeface="Segoe UI"/>
              </a:rPr>
              <a:t> — repository interfaces hide SQL behind a small contract.</a:t>
            </a:r>
          </a:p>
          <a:p>
            <a:pPr algn="l">
              <a:lnSpc>
                <a:spcPct val="116000"/>
              </a:lnSpc>
              <a:spcAft>
                <a:spcPts val="1500"/>
              </a:spcAft>
            </a:pPr>
            <a:r>
              <a:rPr sz="1700" b="1">
                <a:solidFill>
                  <a:srgbClr val="1D4ED8"/>
                </a:solidFill>
                <a:latin typeface="Segoe UI"/>
                <a:ea typeface="Segoe UI"/>
              </a:rPr>
              <a:t>Inheritance</a:t>
            </a:r>
            <a:r>
              <a:rPr sz="1500">
                <a:solidFill>
                  <a:srgbClr val="334155"/>
                </a:solidFill>
                <a:latin typeface="Segoe UI"/>
                <a:ea typeface="Segoe UI"/>
              </a:rPr>
              <a:t> — every expected failure extends VoteSecureException.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700" b="1">
                <a:solidFill>
                  <a:srgbClr val="1D4ED8"/>
                </a:solidFill>
                <a:latin typeface="Segoe UI"/>
                <a:ea typeface="Segoe UI"/>
              </a:rPr>
              <a:t>Polymorphism</a:t>
            </a:r>
            <a:r>
              <a:rPr sz="1500">
                <a:solidFill>
                  <a:srgbClr val="334155"/>
                </a:solidFill>
                <a:latin typeface="Segoe UI"/>
                <a:ea typeface="Segoe UI"/>
              </a:rPr>
              <a:t> — services depend on interfaces, never on Jdbc* classes.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62602816-0997-45C3-AAAE-A47E306D2E12}"/>
              </a:ext>
            </a:extLst>
          </p:cNvPr>
          <p:cNvSpPr/>
          <p:nvPr/>
        </p:nvSpPr>
        <p:spPr>
          <a:xfrm>
            <a:off x="762000" y="5905500"/>
            <a:ext cx="10668000" cy="476250"/>
          </a:xfrm>
          <a:prstGeom prst="roundRect">
            <a:avLst/>
          </a:prstGeom>
          <a:solidFill>
            <a:srgbClr val="E8F3EE"/>
          </a:solidFill>
          <a:ln w="12700">
            <a:solidFill>
              <a:srgbClr val="C4E3D5"/>
            </a:solidFill>
          </a:ln>
        </p:spPr>
        <p:txBody>
          <a:bodyPr wrap="square" rtlCol="0"/>
          <a:lstStyle/>
          <a:p>
            <a:endParaRPr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BFE39415-8E96-4A1C-8C75-E1AF2AF8DC34}"/>
              </a:ext>
            </a:extLst>
          </p:cNvPr>
          <p:cNvSpPr txBox="1"/>
          <p:nvPr/>
        </p:nvSpPr>
        <p:spPr>
          <a:xfrm>
            <a:off x="952500" y="6000750"/>
            <a:ext cx="10287000" cy="285750"/>
          </a:xfrm>
        </p:spPr>
        <p:txBody>
          <a:bodyPr wrap="square" lIns="0" tIns="0" rIns="0" bIns="0" rtlCol="0" anchor="ctr"/>
          <a:lstStyle/>
          <a:p>
            <a:pPr algn="l"/>
            <a:r>
              <a:rPr sz="1400">
                <a:solidFill>
                  <a:srgbClr val="0F5132"/>
                </a:solidFill>
                <a:latin typeface="Segoe UI"/>
                <a:ea typeface="Segoe UI"/>
              </a:rPr>
              <a:t>AppContext wires the object graph once; screens call services, and only the repositories execute SQL.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7FC9886-C9CA-429A-8053-F0057E0F7DF1}"/>
              </a:ext>
            </a:extLst>
          </p:cNvPr>
          <p:cNvSpPr txBox="1"/>
          <p:nvPr/>
        </p:nvSpPr>
        <p:spPr>
          <a:xfrm>
            <a:off x="762000" y="457200"/>
            <a:ext cx="40005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400" b="1">
                <a:solidFill>
                  <a:srgbClr val="1D4ED8"/>
                </a:solidFill>
                <a:latin typeface="Segoe UI"/>
                <a:ea typeface="Segoe UI"/>
              </a:rPr>
              <a:t>VOTING WORKFLOW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73FD5AE-11E2-4B1C-BCA6-79198C527603}"/>
              </a:ext>
            </a:extLst>
          </p:cNvPr>
          <p:cNvSpPr txBox="1"/>
          <p:nvPr/>
        </p:nvSpPr>
        <p:spPr>
          <a:xfrm>
            <a:off x="742950" y="742950"/>
            <a:ext cx="10668000" cy="762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11827"/>
                </a:solidFill>
                <a:latin typeface="Segoe UI"/>
                <a:ea typeface="Segoe UI"/>
              </a:rPr>
              <a:t>A ballot passes six enforced checks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BE54F37-2AD3-4214-84EB-4F8840266CA5}"/>
              </a:ext>
            </a:extLst>
          </p:cNvPr>
          <p:cNvSpPr txBox="1"/>
          <p:nvPr/>
        </p:nvSpPr>
        <p:spPr>
          <a:xfrm>
            <a:off x="762000" y="1600200"/>
            <a:ext cx="10477500" cy="476250"/>
          </a:xfrm>
        </p:spPr>
        <p:txBody>
          <a:bodyPr wrap="square" lIns="0" tIns="0" rIns="0" bIns="0" rtlCol="0" anchor="t"/>
          <a:lstStyle/>
          <a:p>
            <a:pPr algn="l"/>
            <a:r>
              <a:rPr sz="1700">
                <a:solidFill>
                  <a:srgbClr val="475569"/>
                </a:solidFill>
                <a:latin typeface="Segoe UI"/>
                <a:ea typeface="Segoe UI"/>
              </a:rPr>
              <a:t>Start is inclusive; the end instant is already closed. Any failure rolls back the database transaction.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2D71A707-64A8-4BD0-A622-49EDD584A29B}"/>
              </a:ext>
            </a:extLst>
          </p:cNvPr>
          <p:cNvSpPr/>
          <p:nvPr/>
        </p:nvSpPr>
        <p:spPr>
          <a:xfrm>
            <a:off x="1333500" y="2857500"/>
            <a:ext cx="8763000" cy="28575"/>
          </a:xfrm>
          <a:prstGeom prst="rect">
            <a:avLst/>
          </a:prstGeom>
          <a:solidFill>
            <a:srgbClr val="C9D6EE"/>
          </a:solidFill>
        </p:spPr>
        <p:txBody>
          <a:bodyPr wrap="square" rtlCol="0"/>
          <a:lstStyle/>
          <a:p>
            <a:endParaRPr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9307B656-D3DE-46C0-869E-B5FA1D839D20}"/>
              </a:ext>
            </a:extLst>
          </p:cNvPr>
          <p:cNvSpPr/>
          <p:nvPr/>
        </p:nvSpPr>
        <p:spPr>
          <a:xfrm>
            <a:off x="1028700" y="2571750"/>
            <a:ext cx="609600" cy="609600"/>
          </a:xfrm>
          <a:prstGeom prst="ellipse">
            <a:avLst/>
          </a:prstGeom>
          <a:solidFill>
            <a:srgbClr val="1D4ED8"/>
          </a:solidFill>
        </p:spPr>
        <p:txBody>
          <a:bodyPr wrap="square" rtlCol="0"/>
          <a:lstStyle/>
          <a:p>
            <a:endParaRPr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85E8E21D-6024-44D5-9AB0-D3CC64E2C881}"/>
              </a:ext>
            </a:extLst>
          </p:cNvPr>
          <p:cNvSpPr/>
          <p:nvPr/>
        </p:nvSpPr>
        <p:spPr>
          <a:xfrm>
            <a:off x="2743200" y="2571750"/>
            <a:ext cx="609600" cy="609600"/>
          </a:xfrm>
          <a:prstGeom prst="ellipse">
            <a:avLst/>
          </a:prstGeom>
          <a:solidFill>
            <a:srgbClr val="1D4ED8"/>
          </a:solidFill>
        </p:spPr>
        <p:txBody>
          <a:bodyPr wrap="square" rtlCol="0"/>
          <a:lstStyle/>
          <a:p>
            <a:endParaRPr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550EE2E5-E89E-4C44-88BA-C47E703A6557}"/>
              </a:ext>
            </a:extLst>
          </p:cNvPr>
          <p:cNvSpPr/>
          <p:nvPr/>
        </p:nvSpPr>
        <p:spPr>
          <a:xfrm>
            <a:off x="4457700" y="2571750"/>
            <a:ext cx="609600" cy="609600"/>
          </a:xfrm>
          <a:prstGeom prst="ellipse">
            <a:avLst/>
          </a:prstGeom>
          <a:solidFill>
            <a:srgbClr val="1D4ED8"/>
          </a:solidFill>
        </p:spPr>
        <p:txBody>
          <a:bodyPr wrap="square" rtlCol="0"/>
          <a:lstStyle/>
          <a:p>
            <a:endParaRPr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D3E983AC-9195-4D2F-BE61-AA4650354440}"/>
              </a:ext>
            </a:extLst>
          </p:cNvPr>
          <p:cNvSpPr/>
          <p:nvPr/>
        </p:nvSpPr>
        <p:spPr>
          <a:xfrm>
            <a:off x="6172200" y="2571750"/>
            <a:ext cx="609600" cy="609600"/>
          </a:xfrm>
          <a:prstGeom prst="ellipse">
            <a:avLst/>
          </a:prstGeom>
          <a:solidFill>
            <a:srgbClr val="1D4ED8"/>
          </a:solidFill>
        </p:spPr>
        <p:txBody>
          <a:bodyPr wrap="square" rtlCol="0"/>
          <a:lstStyle/>
          <a:p>
            <a:endParaRPr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8975AA0D-AC99-4BA8-8A7D-67E9B324A094}"/>
              </a:ext>
            </a:extLst>
          </p:cNvPr>
          <p:cNvSpPr/>
          <p:nvPr/>
        </p:nvSpPr>
        <p:spPr>
          <a:xfrm>
            <a:off x="7886700" y="2571750"/>
            <a:ext cx="609600" cy="609600"/>
          </a:xfrm>
          <a:prstGeom prst="ellipse">
            <a:avLst/>
          </a:prstGeom>
          <a:solidFill>
            <a:srgbClr val="1D4ED8"/>
          </a:solidFill>
        </p:spPr>
        <p:txBody>
          <a:bodyPr wrap="square" rtlCol="0"/>
          <a:lstStyle/>
          <a:p>
            <a:endParaRPr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862A7895-B3EA-4A4D-962C-8FF8D4C81942}"/>
              </a:ext>
            </a:extLst>
          </p:cNvPr>
          <p:cNvSpPr/>
          <p:nvPr/>
        </p:nvSpPr>
        <p:spPr>
          <a:xfrm>
            <a:off x="9601200" y="2571750"/>
            <a:ext cx="609600" cy="609600"/>
          </a:xfrm>
          <a:prstGeom prst="ellipse">
            <a:avLst/>
          </a:prstGeom>
          <a:solidFill>
            <a:srgbClr val="1D4ED8"/>
          </a:solidFill>
        </p:spPr>
        <p:txBody>
          <a:bodyPr wrap="square" rtlCol="0"/>
          <a:lstStyle/>
          <a:p>
            <a:endParaRPr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8C02040-69ED-4454-B47C-113039B4C8BC}"/>
              </a:ext>
            </a:extLst>
          </p:cNvPr>
          <p:cNvSpPr txBox="1"/>
          <p:nvPr/>
        </p:nvSpPr>
        <p:spPr>
          <a:xfrm>
            <a:off x="1028700" y="2686050"/>
            <a:ext cx="609600" cy="381000"/>
          </a:xfrm>
        </p:spPr>
        <p:txBody>
          <a:bodyPr wrap="square"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  <a:ea typeface="Segoe UI"/>
              </a:rPr>
              <a:t>1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A58099A-22CD-4706-A558-19F740E4CAA8}"/>
              </a:ext>
            </a:extLst>
          </p:cNvPr>
          <p:cNvSpPr txBox="1"/>
          <p:nvPr/>
        </p:nvSpPr>
        <p:spPr>
          <a:xfrm>
            <a:off x="2743200" y="2686050"/>
            <a:ext cx="609600" cy="381000"/>
          </a:xfrm>
        </p:spPr>
        <p:txBody>
          <a:bodyPr wrap="square"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  <a:ea typeface="Segoe UI"/>
              </a:rPr>
              <a:t>2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EFB9CF3-97EB-4A75-9E2B-F7228A20ECCD}"/>
              </a:ext>
            </a:extLst>
          </p:cNvPr>
          <p:cNvSpPr txBox="1"/>
          <p:nvPr/>
        </p:nvSpPr>
        <p:spPr>
          <a:xfrm>
            <a:off x="4457700" y="2686050"/>
            <a:ext cx="609600" cy="381000"/>
          </a:xfrm>
        </p:spPr>
        <p:txBody>
          <a:bodyPr wrap="square"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  <a:ea typeface="Segoe UI"/>
              </a:rPr>
              <a:t>3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74D20AF-ADB5-46FC-A5BD-94267DF25D55}"/>
              </a:ext>
            </a:extLst>
          </p:cNvPr>
          <p:cNvSpPr txBox="1"/>
          <p:nvPr/>
        </p:nvSpPr>
        <p:spPr>
          <a:xfrm>
            <a:off x="6172200" y="2686050"/>
            <a:ext cx="609600" cy="381000"/>
          </a:xfrm>
        </p:spPr>
        <p:txBody>
          <a:bodyPr wrap="square"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  <a:ea typeface="Segoe UI"/>
              </a:rPr>
              <a:t>4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2EC6EBC-A8F7-4603-B73C-AA57A9C6028D}"/>
              </a:ext>
            </a:extLst>
          </p:cNvPr>
          <p:cNvSpPr txBox="1"/>
          <p:nvPr/>
        </p:nvSpPr>
        <p:spPr>
          <a:xfrm>
            <a:off x="7886700" y="2686050"/>
            <a:ext cx="609600" cy="381000"/>
          </a:xfrm>
        </p:spPr>
        <p:txBody>
          <a:bodyPr wrap="square"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  <a:ea typeface="Segoe UI"/>
              </a:rPr>
              <a:t>5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9F7E0F2-3B22-457E-9A66-816CEEB68E16}"/>
              </a:ext>
            </a:extLst>
          </p:cNvPr>
          <p:cNvSpPr txBox="1"/>
          <p:nvPr/>
        </p:nvSpPr>
        <p:spPr>
          <a:xfrm>
            <a:off x="9601200" y="2686050"/>
            <a:ext cx="609600" cy="381000"/>
          </a:xfrm>
        </p:spPr>
        <p:txBody>
          <a:bodyPr wrap="square"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  <a:ea typeface="Segoe UI"/>
              </a:rPr>
              <a:t>6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61E1F53A-3BE8-4C67-9C3C-CA74B5B95BFA}"/>
              </a:ext>
            </a:extLst>
          </p:cNvPr>
          <p:cNvSpPr txBox="1"/>
          <p:nvPr/>
        </p:nvSpPr>
        <p:spPr>
          <a:xfrm>
            <a:off x="476250" y="3390900"/>
            <a:ext cx="1714500" cy="285750"/>
          </a:xfrm>
        </p:spPr>
        <p:txBody>
          <a:bodyPr wrap="square" lIns="0" tIns="0" rIns="0" bIns="0" rtlCol="0" anchor="t"/>
          <a:lstStyle/>
          <a:p>
            <a:pPr algn="ctr"/>
            <a:r>
              <a:rPr sz="1700" b="1">
                <a:solidFill>
                  <a:srgbClr val="111827"/>
                </a:solidFill>
                <a:latin typeface="Segoe UI"/>
                <a:ea typeface="Segoe UI"/>
              </a:rPr>
              <a:t>Sign in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ECA8C1FF-7302-4BEC-8DA4-C305CD1B878E}"/>
              </a:ext>
            </a:extLst>
          </p:cNvPr>
          <p:cNvSpPr txBox="1"/>
          <p:nvPr/>
        </p:nvSpPr>
        <p:spPr>
          <a:xfrm>
            <a:off x="2190750" y="3390900"/>
            <a:ext cx="1714500" cy="285750"/>
          </a:xfrm>
        </p:spPr>
        <p:txBody>
          <a:bodyPr wrap="square" lIns="0" tIns="0" rIns="0" bIns="0" rtlCol="0" anchor="t"/>
          <a:lstStyle/>
          <a:p>
            <a:pPr algn="ctr"/>
            <a:r>
              <a:rPr sz="1700" b="1">
                <a:solidFill>
                  <a:srgbClr val="111827"/>
                </a:solidFill>
                <a:latin typeface="Segoe UI"/>
                <a:ea typeface="Segoe UI"/>
              </a:rPr>
              <a:t>Eligibility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D529D733-87BE-4C30-B3F7-6B6A740AB9F3}"/>
              </a:ext>
            </a:extLst>
          </p:cNvPr>
          <p:cNvSpPr txBox="1"/>
          <p:nvPr/>
        </p:nvSpPr>
        <p:spPr>
          <a:xfrm>
            <a:off x="3905250" y="3390900"/>
            <a:ext cx="1714500" cy="285750"/>
          </a:xfrm>
        </p:spPr>
        <p:txBody>
          <a:bodyPr wrap="square" lIns="0" tIns="0" rIns="0" bIns="0" rtlCol="0" anchor="t"/>
          <a:lstStyle/>
          <a:p>
            <a:pPr algn="ctr"/>
            <a:r>
              <a:rPr sz="1700" b="1">
                <a:solidFill>
                  <a:srgbClr val="111827"/>
                </a:solidFill>
                <a:latin typeface="Segoe UI"/>
                <a:ea typeface="Segoe UI"/>
              </a:rPr>
              <a:t>Window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6781CF8-3C6A-4330-A801-C3783A4D2C2D}"/>
              </a:ext>
            </a:extLst>
          </p:cNvPr>
          <p:cNvSpPr txBox="1"/>
          <p:nvPr/>
        </p:nvSpPr>
        <p:spPr>
          <a:xfrm>
            <a:off x="5619750" y="3390900"/>
            <a:ext cx="1714500" cy="285750"/>
          </a:xfrm>
        </p:spPr>
        <p:txBody>
          <a:bodyPr wrap="square" lIns="0" tIns="0" rIns="0" bIns="0" rtlCol="0" anchor="t"/>
          <a:lstStyle/>
          <a:p>
            <a:pPr algn="ctr"/>
            <a:r>
              <a:rPr sz="1700" b="1">
                <a:solidFill>
                  <a:srgbClr val="111827"/>
                </a:solidFill>
                <a:latin typeface="Segoe UI"/>
                <a:ea typeface="Segoe UI"/>
              </a:rPr>
              <a:t>Duplicate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18E78576-30B4-4D98-A901-A86E1D7C76D8}"/>
              </a:ext>
            </a:extLst>
          </p:cNvPr>
          <p:cNvSpPr txBox="1"/>
          <p:nvPr/>
        </p:nvSpPr>
        <p:spPr>
          <a:xfrm>
            <a:off x="7334250" y="3390900"/>
            <a:ext cx="1714500" cy="285750"/>
          </a:xfrm>
        </p:spPr>
        <p:txBody>
          <a:bodyPr wrap="square" lIns="0" tIns="0" rIns="0" bIns="0" rtlCol="0" anchor="t"/>
          <a:lstStyle/>
          <a:p>
            <a:pPr algn="ctr"/>
            <a:r>
              <a:rPr sz="1700" b="1">
                <a:solidFill>
                  <a:srgbClr val="111827"/>
                </a:solidFill>
                <a:latin typeface="Segoe UI"/>
                <a:ea typeface="Segoe UI"/>
              </a:rPr>
              <a:t>Transaction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D2F25599-5F80-4A48-9EF6-B5476395BE7C}"/>
              </a:ext>
            </a:extLst>
          </p:cNvPr>
          <p:cNvSpPr txBox="1"/>
          <p:nvPr/>
        </p:nvSpPr>
        <p:spPr>
          <a:xfrm>
            <a:off x="9048750" y="3390900"/>
            <a:ext cx="1714500" cy="285750"/>
          </a:xfrm>
        </p:spPr>
        <p:txBody>
          <a:bodyPr wrap="square" lIns="0" tIns="0" rIns="0" bIns="0" rtlCol="0" anchor="t"/>
          <a:lstStyle/>
          <a:p>
            <a:pPr algn="ctr"/>
            <a:r>
              <a:rPr sz="1700" b="1">
                <a:solidFill>
                  <a:srgbClr val="111827"/>
                </a:solidFill>
                <a:latin typeface="Segoe UI"/>
                <a:ea typeface="Segoe UI"/>
              </a:rPr>
              <a:t>Receipt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273EAC7D-7FD0-44AC-B7A2-A4AFAFFA009E}"/>
              </a:ext>
            </a:extLst>
          </p:cNvPr>
          <p:cNvSpPr txBox="1"/>
          <p:nvPr/>
        </p:nvSpPr>
        <p:spPr>
          <a:xfrm>
            <a:off x="476250" y="3752850"/>
            <a:ext cx="1714500" cy="1238250"/>
          </a:xfrm>
        </p:spPr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sz="1300">
                <a:solidFill>
                  <a:srgbClr val="475569"/>
                </a:solidFill>
                <a:latin typeface="Segoe UI"/>
                <a:ea typeface="Segoe UI"/>
              </a:rPr>
              <a:t>Voter ID and PIN checked against the PBKDF2 hash.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84DE8BC-6E11-4FD1-BCA2-3B1595A77EBA}"/>
              </a:ext>
            </a:extLst>
          </p:cNvPr>
          <p:cNvSpPr txBox="1"/>
          <p:nvPr/>
        </p:nvSpPr>
        <p:spPr>
          <a:xfrm>
            <a:off x="2190750" y="3752850"/>
            <a:ext cx="1714500" cy="1238250"/>
          </a:xfrm>
        </p:spPr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sz="1300">
                <a:solidFill>
                  <a:srgbClr val="475569"/>
                </a:solidFill>
                <a:latin typeface="Segoe UI"/>
                <a:ea typeface="Segoe UI"/>
              </a:rPr>
              <a:t>The administrator-set eligible flag must be on.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8709C671-4F09-4954-92CE-24BF466DD4FF}"/>
              </a:ext>
            </a:extLst>
          </p:cNvPr>
          <p:cNvSpPr txBox="1"/>
          <p:nvPr/>
        </p:nvSpPr>
        <p:spPr>
          <a:xfrm>
            <a:off x="3905250" y="3752850"/>
            <a:ext cx="1714500" cy="1238250"/>
          </a:xfrm>
        </p:spPr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sz="1300">
                <a:solidFill>
                  <a:srgbClr val="475569"/>
                </a:solidFill>
                <a:latin typeface="Segoe UI"/>
                <a:ea typeface="Segoe UI"/>
              </a:rPr>
              <a:t>start ≤ now &lt; end, evaluated with the injected Clock.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965FC06B-B0CF-4162-84D0-E7F9714E3BEA}"/>
              </a:ext>
            </a:extLst>
          </p:cNvPr>
          <p:cNvSpPr txBox="1"/>
          <p:nvPr/>
        </p:nvSpPr>
        <p:spPr>
          <a:xfrm>
            <a:off x="5619750" y="3752850"/>
            <a:ext cx="1714500" cy="1238250"/>
          </a:xfrm>
        </p:spPr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sz="1300">
                <a:solidFill>
                  <a:srgbClr val="475569"/>
                </a:solidFill>
                <a:latin typeface="Segoe UI"/>
                <a:ea typeface="Segoe UI"/>
              </a:rPr>
              <a:t>Service check first, then UNIQUE(election, voter) in SQLite.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1D0D5589-FCD8-4B10-9827-6432FD596EFA}"/>
              </a:ext>
            </a:extLst>
          </p:cNvPr>
          <p:cNvSpPr txBox="1"/>
          <p:nvPr/>
        </p:nvSpPr>
        <p:spPr>
          <a:xfrm>
            <a:off x="7334250" y="3752850"/>
            <a:ext cx="1714500" cy="1238250"/>
          </a:xfrm>
        </p:spPr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sz="1300">
                <a:solidFill>
                  <a:srgbClr val="475569"/>
                </a:solidFill>
                <a:latin typeface="Segoe UI"/>
                <a:ea typeface="Segoe UI"/>
              </a:rPr>
              <a:t>Insert the ballot and mark the voter; commit or roll back together.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51E29664-73E2-4F52-95DF-86D4C95A8678}"/>
              </a:ext>
            </a:extLst>
          </p:cNvPr>
          <p:cNvSpPr txBox="1"/>
          <p:nvPr/>
        </p:nvSpPr>
        <p:spPr>
          <a:xfrm>
            <a:off x="9048750" y="3752850"/>
            <a:ext cx="1714500" cy="1238250"/>
          </a:xfrm>
        </p:spPr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sz="1300">
                <a:solidFill>
                  <a:srgbClr val="475569"/>
                </a:solidFill>
                <a:latin typeface="Segoe UI"/>
                <a:ea typeface="Segoe UI"/>
              </a:rPr>
              <a:t>Timestamp shown; the chosen candidate is not repeated.</a:t>
            </a:r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3AA61A9C-0A28-405A-9AFC-D2B5299C7531}"/>
              </a:ext>
            </a:extLst>
          </p:cNvPr>
          <p:cNvSpPr/>
          <p:nvPr/>
        </p:nvSpPr>
        <p:spPr>
          <a:xfrm>
            <a:off x="762000" y="5562600"/>
            <a:ext cx="10668000" cy="723900"/>
          </a:xfrm>
          <a:prstGeom prst="roundRect">
            <a:avLst/>
          </a:prstGeom>
          <a:solidFill>
            <a:srgbClr val="FDF2F1"/>
          </a:solidFill>
          <a:ln w="12700">
            <a:solidFill>
              <a:srgbClr val="F3C9C4"/>
            </a:solidFill>
          </a:ln>
        </p:spPr>
        <p:txBody>
          <a:bodyPr wrap="square" rtlCol="0"/>
          <a:lstStyle/>
          <a:p>
            <a:endParaRPr/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620E1660-63F0-4AB9-AA7A-746BB55244CB}"/>
              </a:ext>
            </a:extLst>
          </p:cNvPr>
          <p:cNvSpPr txBox="1"/>
          <p:nvPr/>
        </p:nvSpPr>
        <p:spPr>
          <a:xfrm>
            <a:off x="952500" y="5676900"/>
            <a:ext cx="10287000" cy="476250"/>
          </a:xfrm>
        </p:spPr>
        <p:txBody>
          <a:bodyPr wrap="squar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8A1C13"/>
                </a:solidFill>
                <a:latin typeface="Segoe UI"/>
                <a:ea typeface="Segoe UI"/>
              </a:rPr>
              <a:t>Failure path: </a:t>
            </a:r>
            <a:r>
              <a:rPr sz="1500">
                <a:solidFill>
                  <a:srgbClr val="6B2B24"/>
                </a:solidFill>
                <a:latin typeface="Segoe UI"/>
                <a:ea typeface="Segoe UI"/>
              </a:rPr>
              <a:t>a specific checked exception is shown, the transaction rolls back, and no ballot is stored.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3629CAC-DA4E-426F-A435-B701FFD08015}"/>
              </a:ext>
            </a:extLst>
          </p:cNvPr>
          <p:cNvSpPr txBox="1"/>
          <p:nvPr/>
        </p:nvSpPr>
        <p:spPr>
          <a:xfrm>
            <a:off x="762000" y="457200"/>
            <a:ext cx="49530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400" b="1">
                <a:solidFill>
                  <a:srgbClr val="1D4ED8"/>
                </a:solidFill>
                <a:latin typeface="Segoe UI"/>
                <a:ea typeface="Segoe UI"/>
              </a:rPr>
              <a:t>SECURITY AND INTEGRITY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71F79BC-6F34-495F-9F9B-3328FBDDE832}"/>
              </a:ext>
            </a:extLst>
          </p:cNvPr>
          <p:cNvSpPr txBox="1"/>
          <p:nvPr/>
        </p:nvSpPr>
        <p:spPr>
          <a:xfrm>
            <a:off x="742950" y="742950"/>
            <a:ext cx="10668000" cy="762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11827"/>
                </a:solidFill>
                <a:latin typeface="Segoe UI"/>
                <a:ea typeface="Segoe UI"/>
              </a:rPr>
              <a:t>Integrity and credentials are defended in depth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83D5146-C8A2-4A40-A466-3D970E676D17}"/>
              </a:ext>
            </a:extLst>
          </p:cNvPr>
          <p:cNvSpPr txBox="1"/>
          <p:nvPr/>
        </p:nvSpPr>
        <p:spPr>
          <a:xfrm>
            <a:off x="762000" y="1600200"/>
            <a:ext cx="10477500" cy="476250"/>
          </a:xfrm>
        </p:spPr>
        <p:txBody>
          <a:bodyPr wrap="square" lIns="0" tIns="0" rIns="0" bIns="0" rtlCol="0" anchor="t"/>
          <a:lstStyle/>
          <a:p>
            <a:pPr algn="l"/>
            <a:r>
              <a:rPr sz="1700">
                <a:solidFill>
                  <a:srgbClr val="475569"/>
                </a:solidFill>
                <a:latin typeface="Segoe UI"/>
                <a:ea typeface="Segoe UI"/>
              </a:rPr>
              <a:t>Three independent layers must agree before a ballot is trusted — and no layer stores a raw credential.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1FBB926D-C164-4B7D-84D8-B24F5CFE9736}"/>
              </a:ext>
            </a:extLst>
          </p:cNvPr>
          <p:cNvSpPr/>
          <p:nvPr/>
        </p:nvSpPr>
        <p:spPr>
          <a:xfrm>
            <a:off x="762000" y="2114550"/>
            <a:ext cx="34290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rtlCol="0"/>
          <a:lstStyle/>
          <a:p>
            <a:endParaRPr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58357B84-9326-42E5-97CA-A2DCD13C4468}"/>
              </a:ext>
            </a:extLst>
          </p:cNvPr>
          <p:cNvSpPr/>
          <p:nvPr/>
        </p:nvSpPr>
        <p:spPr>
          <a:xfrm>
            <a:off x="4381500" y="2114550"/>
            <a:ext cx="34290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rtlCol="0"/>
          <a:lstStyle/>
          <a:p>
            <a:endParaRPr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983E39FF-3EA7-44FA-8F72-A85CE8006C35}"/>
              </a:ext>
            </a:extLst>
          </p:cNvPr>
          <p:cNvSpPr/>
          <p:nvPr/>
        </p:nvSpPr>
        <p:spPr>
          <a:xfrm>
            <a:off x="8001000" y="2114550"/>
            <a:ext cx="34290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rtlCol="0"/>
          <a:lstStyle/>
          <a:p>
            <a:endParaRPr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9A983D2-8164-4417-8E21-D8FD218A6FB3}"/>
              </a:ext>
            </a:extLst>
          </p:cNvPr>
          <p:cNvSpPr txBox="1"/>
          <p:nvPr/>
        </p:nvSpPr>
        <p:spPr>
          <a:xfrm>
            <a:off x="1028700" y="2381250"/>
            <a:ext cx="3048000" cy="335280"/>
          </a:xfrm>
        </p:spPr>
        <p:txBody>
          <a:bodyPr wrap="square" lIns="0" tIns="0" rIns="0" bIns="0" rtlCol="0" anchor="t"/>
          <a:lstStyle/>
          <a:p>
            <a:pPr algn="l"/>
            <a:r>
              <a:rPr sz="2200" b="1">
                <a:solidFill>
                  <a:srgbClr val="1D4ED8"/>
                </a:solidFill>
                <a:latin typeface="Segoe UI"/>
                <a:ea typeface="Segoe UI"/>
              </a:rPr>
              <a:t>Credentials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346AC47-3F4D-43C9-822E-4EE2B3E307C4}"/>
              </a:ext>
            </a:extLst>
          </p:cNvPr>
          <p:cNvSpPr txBox="1"/>
          <p:nvPr/>
        </p:nvSpPr>
        <p:spPr>
          <a:xfrm>
            <a:off x="4648200" y="2381250"/>
            <a:ext cx="3048000" cy="335280"/>
          </a:xfrm>
        </p:spPr>
        <p:txBody>
          <a:bodyPr wrap="square" lIns="0" tIns="0" rIns="0" bIns="0" rtlCol="0" anchor="t"/>
          <a:lstStyle/>
          <a:p>
            <a:pPr algn="l"/>
            <a:r>
              <a:rPr sz="2200" b="1">
                <a:solidFill>
                  <a:srgbClr val="1D4ED8"/>
                </a:solidFill>
                <a:latin typeface="Segoe UI"/>
                <a:ea typeface="Segoe UI"/>
              </a:rPr>
              <a:t>Database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4916709-BDF6-44B7-B523-872E5E866C89}"/>
              </a:ext>
            </a:extLst>
          </p:cNvPr>
          <p:cNvSpPr txBox="1"/>
          <p:nvPr/>
        </p:nvSpPr>
        <p:spPr>
          <a:xfrm>
            <a:off x="8267700" y="2381250"/>
            <a:ext cx="3048000" cy="335280"/>
          </a:xfrm>
        </p:spPr>
        <p:txBody>
          <a:bodyPr wrap="square" lIns="0" tIns="0" rIns="0" bIns="0" rtlCol="0" anchor="t"/>
          <a:lstStyle/>
          <a:p>
            <a:pPr algn="l"/>
            <a:r>
              <a:rPr sz="2200" b="1">
                <a:solidFill>
                  <a:srgbClr val="1D4ED8"/>
                </a:solidFill>
                <a:latin typeface="Segoe UI"/>
                <a:ea typeface="Segoe UI"/>
              </a:rPr>
              <a:t>Process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852336A-D268-40CD-9923-24E9D5672B80}"/>
              </a:ext>
            </a:extLst>
          </p:cNvPr>
          <p:cNvSpPr txBox="1"/>
          <p:nvPr/>
        </p:nvSpPr>
        <p:spPr>
          <a:xfrm>
            <a:off x="1028700" y="2914650"/>
            <a:ext cx="2895600" cy="2857500"/>
          </a:xfrm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5000"/>
              </a:lnSpc>
              <a:spcAft>
                <a:spcPts val="1200"/>
              </a:spcAft>
              <a:buChar char="•"/>
            </a:pPr>
            <a:r>
              <a:rPr sz="1500">
                <a:solidFill>
                  <a:srgbClr val="334155"/>
                </a:solidFill>
                <a:latin typeface="Segoe UI"/>
                <a:ea typeface="Segoe UI"/>
              </a:rPr>
              <a:t>PBKDF2-HMAC-SHA256 hashing</a:t>
            </a:r>
          </a:p>
          <a:p>
            <a:pPr marL="228600" indent="-228600" algn="l">
              <a:lnSpc>
                <a:spcPct val="115000"/>
              </a:lnSpc>
              <a:spcAft>
                <a:spcPts val="1200"/>
              </a:spcAft>
              <a:buChar char="•"/>
            </a:pPr>
            <a:r>
              <a:rPr sz="1500">
                <a:solidFill>
                  <a:srgbClr val="334155"/>
                </a:solidFill>
                <a:latin typeface="Segoe UI"/>
                <a:ea typeface="Segoe UI"/>
              </a:rPr>
              <a:t>120,000 iterations, 16-byte salt</a:t>
            </a:r>
          </a:p>
          <a:p>
            <a:pPr marL="228600" indent="-228600" algn="l">
              <a:lnSpc>
                <a:spcPct val="115000"/>
              </a:lnSpc>
              <a:spcAft>
                <a:spcPts val="1200"/>
              </a:spcAft>
              <a:buChar char="•"/>
            </a:pPr>
            <a:r>
              <a:rPr sz="1500">
                <a:solidFill>
                  <a:srgbClr val="334155"/>
                </a:solidFill>
                <a:latin typeface="Segoe UI"/>
                <a:ea typeface="Segoe UI"/>
              </a:rPr>
              <a:t>Constant-time verification</a:t>
            </a:r>
          </a:p>
          <a:p>
            <a:pPr marL="228600" indent="-228600" algn="l">
              <a:lnSpc>
                <a:spcPct val="115000"/>
              </a:lnSpc>
              <a:spcAft>
                <a:spcPts val="1200"/>
              </a:spcAft>
              <a:buChar char="•"/>
            </a:pPr>
            <a:r>
              <a:rPr sz="1500">
                <a:solidFill>
                  <a:srgbClr val="334155"/>
                </a:solidFill>
                <a:latin typeface="Segoe UI"/>
                <a:ea typeface="Segoe UI"/>
              </a:rPr>
              <a:t>No plain-text credentials</a:t>
            </a:r>
          </a:p>
          <a:p>
            <a:pPr marL="228600" indent="-228600" algn="l">
              <a:lnSpc>
                <a:spcPct val="115000"/>
              </a:lnSpc>
              <a:spcAft>
                <a:spcPts val="0"/>
              </a:spcAft>
              <a:buChar char="•"/>
            </a:pPr>
            <a:r>
              <a:rPr sz="1500">
                <a:solidFill>
                  <a:srgbClr val="334155"/>
                </a:solidFill>
                <a:latin typeface="Segoe UI"/>
                <a:ea typeface="Segoe UI"/>
              </a:rPr>
              <a:t>PINs never logged or shown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57F07C9-BDFA-4398-8109-A7D35BAE748E}"/>
              </a:ext>
            </a:extLst>
          </p:cNvPr>
          <p:cNvSpPr txBox="1"/>
          <p:nvPr/>
        </p:nvSpPr>
        <p:spPr>
          <a:xfrm>
            <a:off x="4648200" y="2914650"/>
            <a:ext cx="2895600" cy="2857500"/>
          </a:xfrm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5000"/>
              </a:lnSpc>
              <a:spcAft>
                <a:spcPts val="1200"/>
              </a:spcAft>
              <a:buChar char="•"/>
            </a:pPr>
            <a:r>
              <a:rPr sz="1500">
                <a:solidFill>
                  <a:srgbClr val="334155"/>
                </a:solidFill>
                <a:latin typeface="Segoe UI"/>
                <a:ea typeface="Segoe UI"/>
              </a:rPr>
              <a:t>PreparedStatement for all SQL</a:t>
            </a:r>
          </a:p>
          <a:p>
            <a:pPr marL="228600" indent="-228600" algn="l">
              <a:lnSpc>
                <a:spcPct val="115000"/>
              </a:lnSpc>
              <a:spcAft>
                <a:spcPts val="1200"/>
              </a:spcAft>
              <a:buChar char="•"/>
            </a:pPr>
            <a:r>
              <a:rPr sz="1500">
                <a:solidFill>
                  <a:srgbClr val="334155"/>
                </a:solidFill>
                <a:latin typeface="Segoe UI"/>
                <a:ea typeface="Segoe UI"/>
              </a:rPr>
              <a:t>Foreign keys ON per connection</a:t>
            </a:r>
          </a:p>
          <a:p>
            <a:pPr marL="228600" indent="-228600" algn="l">
              <a:lnSpc>
                <a:spcPct val="115000"/>
              </a:lnSpc>
              <a:spcAft>
                <a:spcPts val="1200"/>
              </a:spcAft>
              <a:buChar char="•"/>
            </a:pPr>
            <a:r>
              <a:rPr sz="1500">
                <a:solidFill>
                  <a:srgbClr val="334155"/>
                </a:solidFill>
                <a:latin typeface="Segoe UI"/>
                <a:ea typeface="Segoe UI"/>
              </a:rPr>
              <a:t>UNIQUE(election_id, voter_id)</a:t>
            </a:r>
          </a:p>
          <a:p>
            <a:pPr marL="228600" indent="-228600" algn="l">
              <a:lnSpc>
                <a:spcPct val="115000"/>
              </a:lnSpc>
              <a:spcAft>
                <a:spcPts val="1200"/>
              </a:spcAft>
              <a:buChar char="•"/>
            </a:pPr>
            <a:r>
              <a:rPr sz="1500">
                <a:solidFill>
                  <a:srgbClr val="334155"/>
                </a:solidFill>
                <a:latin typeface="Segoe UI"/>
                <a:ea typeface="Segoe UI"/>
              </a:rPr>
              <a:t>Transactional insert + rollback</a:t>
            </a:r>
          </a:p>
          <a:p>
            <a:pPr marL="228600" indent="-228600" algn="l">
              <a:lnSpc>
                <a:spcPct val="115000"/>
              </a:lnSpc>
              <a:spcAft>
                <a:spcPts val="0"/>
              </a:spcAft>
              <a:buChar char="•"/>
            </a:pPr>
            <a:r>
              <a:rPr sz="1500">
                <a:solidFill>
                  <a:srgbClr val="334155"/>
                </a:solidFill>
                <a:latin typeface="Segoe UI"/>
                <a:ea typeface="Segoe UI"/>
              </a:rPr>
              <a:t>Generic user-facing errors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555A1E-8F0A-49FD-ACB0-578E6F4D5746}"/>
              </a:ext>
            </a:extLst>
          </p:cNvPr>
          <p:cNvSpPr txBox="1"/>
          <p:nvPr/>
        </p:nvSpPr>
        <p:spPr>
          <a:xfrm>
            <a:off x="8267700" y="2914650"/>
            <a:ext cx="2895600" cy="2857500"/>
          </a:xfrm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5000"/>
              </a:lnSpc>
              <a:spcAft>
                <a:spcPts val="1200"/>
              </a:spcAft>
              <a:buChar char="•"/>
            </a:pPr>
            <a:r>
              <a:rPr sz="1500">
                <a:solidFill>
                  <a:srgbClr val="334155"/>
                </a:solidFill>
                <a:latin typeface="Segoe UI"/>
                <a:ea typeface="Segoe UI"/>
              </a:rPr>
              <a:t>Freeze after the first ballot</a:t>
            </a:r>
          </a:p>
          <a:p>
            <a:pPr marL="228600" indent="-228600" algn="l">
              <a:lnSpc>
                <a:spcPct val="115000"/>
              </a:lnSpc>
              <a:spcAft>
                <a:spcPts val="1200"/>
              </a:spcAft>
              <a:buChar char="•"/>
            </a:pPr>
            <a:r>
              <a:rPr sz="1500">
                <a:solidFill>
                  <a:srgbClr val="334155"/>
                </a:solidFill>
                <a:latin typeface="Segoe UI"/>
                <a:ea typeface="Segoe UI"/>
              </a:rPr>
              <a:t>Voter results hidden while open</a:t>
            </a:r>
          </a:p>
          <a:p>
            <a:pPr marL="228600" indent="-228600" algn="l">
              <a:lnSpc>
                <a:spcPct val="115000"/>
              </a:lnSpc>
              <a:spcAft>
                <a:spcPts val="1200"/>
              </a:spcAft>
              <a:buChar char="•"/>
            </a:pPr>
            <a:r>
              <a:rPr sz="1500">
                <a:solidFill>
                  <a:srgbClr val="334155"/>
                </a:solidFill>
                <a:latin typeface="Segoe UI"/>
                <a:ea typeface="Segoe UI"/>
              </a:rPr>
              <a:t>Admin live view labelled PREVIEW</a:t>
            </a:r>
          </a:p>
          <a:p>
            <a:pPr marL="228600" indent="-228600" algn="l">
              <a:lnSpc>
                <a:spcPct val="115000"/>
              </a:lnSpc>
              <a:spcAft>
                <a:spcPts val="1200"/>
              </a:spcAft>
              <a:buChar char="•"/>
            </a:pPr>
            <a:r>
              <a:rPr sz="1500">
                <a:solidFill>
                  <a:srgbClr val="334155"/>
                </a:solidFill>
                <a:latin typeface="Segoe UI"/>
                <a:ea typeface="Segoe UI"/>
              </a:rPr>
              <a:t>Duplicate checked twice</a:t>
            </a:r>
          </a:p>
          <a:p>
            <a:pPr marL="228600" indent="-228600" algn="l">
              <a:lnSpc>
                <a:spcPct val="115000"/>
              </a:lnSpc>
              <a:spcAft>
                <a:spcPts val="0"/>
              </a:spcAft>
              <a:buChar char="•"/>
            </a:pPr>
            <a:r>
              <a:rPr sz="1500">
                <a:solidFill>
                  <a:srgbClr val="334155"/>
                </a:solidFill>
                <a:latin typeface="Segoe UI"/>
                <a:ea typeface="Segoe UI"/>
              </a:rPr>
              <a:t>Reports contain aggregates only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291F593-840B-4E73-89AB-5F90940A9737}"/>
              </a:ext>
            </a:extLst>
          </p:cNvPr>
          <p:cNvSpPr txBox="1"/>
          <p:nvPr/>
        </p:nvSpPr>
        <p:spPr>
          <a:xfrm>
            <a:off x="762000" y="6191250"/>
            <a:ext cx="106680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64748B"/>
                </a:solidFill>
                <a:latin typeface="Segoe UI"/>
                <a:ea typeface="Segoe UI"/>
              </a:rPr>
              <a:t>Threat model: a local academic prototype. Ballot secrecy against full database access is not claimed.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6BDD093-C0EA-46B4-AE23-6DFA03995B26}"/>
              </a:ext>
            </a:extLst>
          </p:cNvPr>
          <p:cNvSpPr txBox="1"/>
          <p:nvPr/>
        </p:nvSpPr>
        <p:spPr>
          <a:xfrm>
            <a:off x="762000" y="457200"/>
            <a:ext cx="40005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400" b="1">
                <a:solidFill>
                  <a:srgbClr val="1D4ED8"/>
                </a:solidFill>
                <a:latin typeface="Segoe UI"/>
                <a:ea typeface="Segoe UI"/>
              </a:rPr>
              <a:t>ADMINISTRATOR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1A9DDF0-B56E-4070-BEB4-A9BA7A2C7750}"/>
              </a:ext>
            </a:extLst>
          </p:cNvPr>
          <p:cNvSpPr txBox="1"/>
          <p:nvPr/>
        </p:nvSpPr>
        <p:spPr>
          <a:xfrm>
            <a:off x="742950" y="742950"/>
            <a:ext cx="10668000" cy="6667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11827"/>
                </a:solidFill>
                <a:latin typeface="Segoe UI"/>
                <a:ea typeface="Segoe UI"/>
              </a:rPr>
              <a:t>Administrator workspace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37C971E-7D20-4660-B0BE-9A6B401EC44F}"/>
              </a:ext>
            </a:extLst>
          </p:cNvPr>
          <p:cNvSpPr txBox="1"/>
          <p:nvPr/>
        </p:nvSpPr>
        <p:spPr>
          <a:xfrm>
            <a:off x="762000" y="1485900"/>
            <a:ext cx="10477500" cy="381000"/>
          </a:xfrm>
        </p:spPr>
        <p:txBody>
          <a:bodyPr wrap="square" lIns="0" tIns="0" rIns="0" bIns="0" rtlCol="0" anchor="t"/>
          <a:lstStyle/>
          <a:p>
            <a:pPr algn="l"/>
            <a:r>
              <a:rPr sz="1700">
                <a:solidFill>
                  <a:srgbClr val="475569"/>
                </a:solidFill>
                <a:latin typeface="Segoe UI"/>
                <a:ea typeface="Segoe UI"/>
              </a:rPr>
              <a:t>Voters, ballot, schedule, results and reports in one signed-in session.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4801BB19-8E97-4F3B-B734-2F8C4604E820}"/>
              </a:ext>
            </a:extLst>
          </p:cNvPr>
          <p:cNvSpPr/>
          <p:nvPr/>
        </p:nvSpPr>
        <p:spPr>
          <a:xfrm>
            <a:off x="628650" y="1962150"/>
            <a:ext cx="54102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rtlCol="0"/>
          <a:lstStyle/>
          <a:p>
            <a:endParaRPr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D59BCDD4-1B03-496D-B3DF-434FFEE720E7}"/>
              </a:ext>
            </a:extLst>
          </p:cNvPr>
          <p:cNvSpPr/>
          <p:nvPr/>
        </p:nvSpPr>
        <p:spPr>
          <a:xfrm>
            <a:off x="6153150" y="1962150"/>
            <a:ext cx="54102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rtlCol="0"/>
          <a:lstStyle/>
          <a:p>
            <a:endParaRPr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F2260723-5544-4913-AF44-B937D52EA0F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62000" y="2095500"/>
            <a:ext cx="5143500" cy="29337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6FE52E69-2C3D-48C1-A025-0203373E667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286500" y="2095500"/>
            <a:ext cx="5143500" cy="29337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184AF4EE-9FD3-4413-A923-5DDF8112AF15}"/>
              </a:ext>
            </a:extLst>
          </p:cNvPr>
          <p:cNvSpPr txBox="1"/>
          <p:nvPr/>
        </p:nvSpPr>
        <p:spPr>
          <a:xfrm>
            <a:off x="762000" y="5219700"/>
            <a:ext cx="51435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64748B"/>
                </a:solidFill>
                <a:latin typeface="Segoe UI"/>
                <a:ea typeface="Segoe UI"/>
              </a:rPr>
              <a:t>Administrator dashboard — counts, window and election status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4C23070-77D6-40C4-9418-7A9349785D45}"/>
              </a:ext>
            </a:extLst>
          </p:cNvPr>
          <p:cNvSpPr txBox="1"/>
          <p:nvPr/>
        </p:nvSpPr>
        <p:spPr>
          <a:xfrm>
            <a:off x="6286500" y="5219700"/>
            <a:ext cx="51435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64748B"/>
                </a:solidFill>
                <a:latin typeface="Segoe UI"/>
                <a:ea typeface="Segoe UI"/>
              </a:rPr>
              <a:t>Election settings — configuration locked after the first ballot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5572548-CD52-4C83-950E-BFC52550629F}"/>
              </a:ext>
            </a:extLst>
          </p:cNvPr>
          <p:cNvSpPr txBox="1"/>
          <p:nvPr/>
        </p:nvSpPr>
        <p:spPr>
          <a:xfrm>
            <a:off x="762000" y="5619750"/>
            <a:ext cx="32385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600" b="1">
                <a:solidFill>
                  <a:srgbClr val="111827"/>
                </a:solidFill>
                <a:latin typeface="Segoe UI"/>
                <a:ea typeface="Segoe UI"/>
              </a:rPr>
              <a:t>Register and search voters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8353D0C-95FB-4914-BD2F-B418E365C778}"/>
              </a:ext>
            </a:extLst>
          </p:cNvPr>
          <p:cNvSpPr txBox="1"/>
          <p:nvPr/>
        </p:nvSpPr>
        <p:spPr>
          <a:xfrm>
            <a:off x="4381500" y="5619750"/>
            <a:ext cx="32385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600" b="1">
                <a:solidFill>
                  <a:srgbClr val="111827"/>
                </a:solidFill>
                <a:latin typeface="Segoe UI"/>
                <a:ea typeface="Segoe UI"/>
              </a:rPr>
              <a:t>Add or edit candidates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792B5EC-605F-4F0F-AD50-6ECCEBACA897}"/>
              </a:ext>
            </a:extLst>
          </p:cNvPr>
          <p:cNvSpPr txBox="1"/>
          <p:nvPr/>
        </p:nvSpPr>
        <p:spPr>
          <a:xfrm>
            <a:off x="8001000" y="5619750"/>
            <a:ext cx="34290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600" b="1">
                <a:solidFill>
                  <a:srgbClr val="111827"/>
                </a:solidFill>
                <a:latin typeface="Segoe UI"/>
                <a:ea typeface="Segoe UI"/>
              </a:rPr>
              <a:t>Export TXT and CSV reports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0370C61-97EA-4C19-90C9-DAC8321EE992}"/>
              </a:ext>
            </a:extLst>
          </p:cNvPr>
          <p:cNvSpPr txBox="1"/>
          <p:nvPr/>
        </p:nvSpPr>
        <p:spPr>
          <a:xfrm>
            <a:off x="762000" y="6191250"/>
            <a:ext cx="106680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64748B"/>
                </a:solidFill>
                <a:latin typeface="Segoe UI"/>
                <a:ea typeface="Segoe UI"/>
              </a:rPr>
              <a:t>Once a ballot exists, the schedule and candidate list are frozen; the screen states the reason.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97340AC-F0B3-4387-82D7-3AD5F9357679}"/>
              </a:ext>
            </a:extLst>
          </p:cNvPr>
          <p:cNvSpPr txBox="1"/>
          <p:nvPr/>
        </p:nvSpPr>
        <p:spPr>
          <a:xfrm>
            <a:off x="762000" y="457200"/>
            <a:ext cx="40005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400" b="1">
                <a:solidFill>
                  <a:srgbClr val="1D4ED8"/>
                </a:solidFill>
                <a:latin typeface="Segoe UI"/>
                <a:ea typeface="Segoe UI"/>
              </a:rPr>
              <a:t>VOTER EXPERIENCE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38A9C68-DC68-4243-8DE0-034D5E8B5A0A}"/>
              </a:ext>
            </a:extLst>
          </p:cNvPr>
          <p:cNvSpPr txBox="1"/>
          <p:nvPr/>
        </p:nvSpPr>
        <p:spPr>
          <a:xfrm>
            <a:off x="742950" y="742950"/>
            <a:ext cx="10668000" cy="6667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11827"/>
                </a:solidFill>
                <a:latin typeface="Segoe UI"/>
                <a:ea typeface="Segoe UI"/>
              </a:rPr>
              <a:t>Voter journey: sign in, choose, confirm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6352DAE-276D-4480-BB80-495E53D77AD9}"/>
              </a:ext>
            </a:extLst>
          </p:cNvPr>
          <p:cNvSpPr txBox="1"/>
          <p:nvPr/>
        </p:nvSpPr>
        <p:spPr>
          <a:xfrm>
            <a:off x="762000" y="1428750"/>
            <a:ext cx="10477500" cy="381000"/>
          </a:xfrm>
        </p:spPr>
        <p:txBody>
          <a:bodyPr wrap="square" lIns="0" tIns="0" rIns="0" bIns="0" rtlCol="0" anchor="t"/>
          <a:lstStyle/>
          <a:p>
            <a:pPr algn="l"/>
            <a:r>
              <a:rPr sz="1700">
                <a:solidFill>
                  <a:srgbClr val="475569"/>
                </a:solidFill>
                <a:latin typeface="Segoe UI"/>
                <a:ea typeface="Segoe UI"/>
              </a:rPr>
              <a:t>The receipt proves the ballot was saved without repeating the voter’s choice on screen.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C3CF714E-A41F-4143-8030-A966A8F8B528}"/>
              </a:ext>
            </a:extLst>
          </p:cNvPr>
          <p:cNvSpPr/>
          <p:nvPr/>
        </p:nvSpPr>
        <p:spPr>
          <a:xfrm>
            <a:off x="762000" y="1866900"/>
            <a:ext cx="3429000" cy="21145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rtlCol="0"/>
          <a:lstStyle/>
          <a:p>
            <a:endParaRPr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F7850CD1-AA90-495E-9240-4653BB513173}"/>
              </a:ext>
            </a:extLst>
          </p:cNvPr>
          <p:cNvSpPr/>
          <p:nvPr/>
        </p:nvSpPr>
        <p:spPr>
          <a:xfrm>
            <a:off x="4381500" y="1866900"/>
            <a:ext cx="3429000" cy="21145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rtlCol="0"/>
          <a:lstStyle/>
          <a:p>
            <a:endParaRPr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205FA8C8-13CE-495E-BEDE-720F4EFA6293}"/>
              </a:ext>
            </a:extLst>
          </p:cNvPr>
          <p:cNvSpPr/>
          <p:nvPr/>
        </p:nvSpPr>
        <p:spPr>
          <a:xfrm>
            <a:off x="8001000" y="1866900"/>
            <a:ext cx="3429000" cy="21145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rtlCol="0"/>
          <a:lstStyle/>
          <a:p>
            <a:endParaRPr/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AEC2000B-20DD-435C-B375-7EEE4966367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57250" y="2000250"/>
            <a:ext cx="3238500" cy="184785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C36CEC17-8ED9-433F-B99E-66E5549C9A0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476750" y="2000250"/>
            <a:ext cx="3238500" cy="184785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8F24BF44-519E-42E8-A79C-7F85B192AAE2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096250" y="2000250"/>
            <a:ext cx="3238500" cy="1847850"/>
          </a:xfrm>
          <a:prstGeom prst="rect">
            <a:avLst/>
          </a:prstGeom>
        </p:spPr>
      </p:pic>
      <p:sp>
        <p:nvSpPr>
          <p:cNvPr id="12" name="TextBox 12">
            <a:extLst>
              <a:ext uri="{FF2B5EF4-FFF2-40B4-BE49-F238E27FC236}">
                <a16:creationId xmlns:a16="http://schemas.microsoft.com/office/drawing/2014/main" id="{E6979DD2-9AB0-4729-8A01-CC2194DA5A4B}"/>
              </a:ext>
            </a:extLst>
          </p:cNvPr>
          <p:cNvSpPr txBox="1"/>
          <p:nvPr/>
        </p:nvSpPr>
        <p:spPr>
          <a:xfrm>
            <a:off x="762000" y="4076700"/>
            <a:ext cx="333375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64748B"/>
                </a:solidFill>
                <a:latin typeface="Segoe UI"/>
                <a:ea typeface="Segoe UI"/>
              </a:rPr>
              <a:t>Signed in as Aditya Menon (V010)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8991C8D-8805-4DAF-BC27-3691596217DE}"/>
              </a:ext>
            </a:extLst>
          </p:cNvPr>
          <p:cNvSpPr txBox="1"/>
          <p:nvPr/>
        </p:nvSpPr>
        <p:spPr>
          <a:xfrm>
            <a:off x="4381500" y="4076700"/>
            <a:ext cx="333375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64748B"/>
                </a:solidFill>
                <a:latin typeface="Segoe UI"/>
                <a:ea typeface="Segoe UI"/>
              </a:rPr>
              <a:t>No candidate selected; submit is disabled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259B77D-6D62-4EEF-BCAE-B2119F4D819D}"/>
              </a:ext>
            </a:extLst>
          </p:cNvPr>
          <p:cNvSpPr txBox="1"/>
          <p:nvPr/>
        </p:nvSpPr>
        <p:spPr>
          <a:xfrm>
            <a:off x="8001000" y="4076700"/>
            <a:ext cx="333375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64748B"/>
                </a:solidFill>
                <a:latin typeface="Segoe UI"/>
                <a:ea typeface="Segoe UI"/>
              </a:rPr>
              <a:t>Ballot time shown; choice omitted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0782834-714C-4332-A8C6-60A5178F8941}"/>
              </a:ext>
            </a:extLst>
          </p:cNvPr>
          <p:cNvSpPr txBox="1"/>
          <p:nvPr/>
        </p:nvSpPr>
        <p:spPr>
          <a:xfrm>
            <a:off x="762000" y="4495800"/>
            <a:ext cx="3238500" cy="304800"/>
          </a:xfrm>
        </p:spPr>
        <p:txBody>
          <a:bodyPr wrap="square" lIns="0" tIns="0" rIns="0" bIns="0" rtlCol="0" anchor="t"/>
          <a:lstStyle/>
          <a:p>
            <a:pPr algn="l"/>
            <a:r>
              <a:rPr sz="1800" b="1">
                <a:solidFill>
                  <a:srgbClr val="1D4ED8"/>
                </a:solidFill>
                <a:latin typeface="Segoe UI"/>
                <a:ea typeface="Segoe UI"/>
              </a:rPr>
              <a:t>Dashboard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8D756AC-B2DF-4A87-A486-73616EAF8C87}"/>
              </a:ext>
            </a:extLst>
          </p:cNvPr>
          <p:cNvSpPr txBox="1"/>
          <p:nvPr/>
        </p:nvSpPr>
        <p:spPr>
          <a:xfrm>
            <a:off x="4381500" y="4495800"/>
            <a:ext cx="3238500" cy="304800"/>
          </a:xfrm>
        </p:spPr>
        <p:txBody>
          <a:bodyPr wrap="square" lIns="0" tIns="0" rIns="0" bIns="0" rtlCol="0" anchor="t"/>
          <a:lstStyle/>
          <a:p>
            <a:pPr algn="l"/>
            <a:r>
              <a:rPr sz="1800" b="1">
                <a:solidFill>
                  <a:srgbClr val="1D4ED8"/>
                </a:solidFill>
                <a:latin typeface="Segoe UI"/>
                <a:ea typeface="Segoe UI"/>
              </a:rPr>
              <a:t>Ballot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30CAD19-9B06-4293-947D-6A4283704CD5}"/>
              </a:ext>
            </a:extLst>
          </p:cNvPr>
          <p:cNvSpPr txBox="1"/>
          <p:nvPr/>
        </p:nvSpPr>
        <p:spPr>
          <a:xfrm>
            <a:off x="8001000" y="4495800"/>
            <a:ext cx="3238500" cy="304800"/>
          </a:xfrm>
        </p:spPr>
        <p:txBody>
          <a:bodyPr wrap="square" lIns="0" tIns="0" rIns="0" bIns="0" rtlCol="0" anchor="t"/>
          <a:lstStyle/>
          <a:p>
            <a:pPr algn="l"/>
            <a:r>
              <a:rPr sz="1800" b="1">
                <a:solidFill>
                  <a:srgbClr val="1D4ED8"/>
                </a:solidFill>
                <a:latin typeface="Segoe UI"/>
                <a:ea typeface="Segoe UI"/>
              </a:rPr>
              <a:t>Success receipt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69C867BF-2B36-4824-8EFC-C7D5BC60019B}"/>
              </a:ext>
            </a:extLst>
          </p:cNvPr>
          <p:cNvSpPr txBox="1"/>
          <p:nvPr/>
        </p:nvSpPr>
        <p:spPr>
          <a:xfrm>
            <a:off x="762000" y="4876800"/>
            <a:ext cx="3238500" cy="952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8000"/>
              </a:lnSpc>
            </a:pPr>
            <a:r>
              <a:rPr sz="1400">
                <a:solidFill>
                  <a:srgbClr val="334155"/>
                </a:solidFill>
                <a:latin typeface="Segoe UI"/>
                <a:ea typeface="Segoe UI"/>
              </a:rPr>
              <a:t>Election window, status and whether this voter has already voted.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00C6882D-7909-4EA0-A785-CBEBA0F1163F}"/>
              </a:ext>
            </a:extLst>
          </p:cNvPr>
          <p:cNvSpPr txBox="1"/>
          <p:nvPr/>
        </p:nvSpPr>
        <p:spPr>
          <a:xfrm>
            <a:off x="4381500" y="4876800"/>
            <a:ext cx="3238500" cy="952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8000"/>
              </a:lnSpc>
            </a:pPr>
            <a:r>
              <a:rPr sz="1400">
                <a:solidFill>
                  <a:srgbClr val="334155"/>
                </a:solidFill>
                <a:latin typeface="Segoe UI"/>
                <a:ea typeface="Segoe UI"/>
              </a:rPr>
              <a:t>Exactly one candidate; submit stays disabled until a row is selected.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9639BEEC-8045-40B2-AEFB-6AE30B1DF690}"/>
              </a:ext>
            </a:extLst>
          </p:cNvPr>
          <p:cNvSpPr txBox="1"/>
          <p:nvPr/>
        </p:nvSpPr>
        <p:spPr>
          <a:xfrm>
            <a:off x="8001000" y="4876800"/>
            <a:ext cx="3238500" cy="952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8000"/>
              </a:lnSpc>
            </a:pPr>
            <a:r>
              <a:rPr sz="1400">
                <a:solidFill>
                  <a:srgbClr val="334155"/>
                </a:solidFill>
                <a:latin typeface="Segoe UI"/>
                <a:ea typeface="Segoe UI"/>
              </a:rPr>
              <a:t>Timestamp only. The selected candidate is deliberately omitted.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5B97268-C1E4-4359-B68E-16E210CC36D4}"/>
              </a:ext>
            </a:extLst>
          </p:cNvPr>
          <p:cNvSpPr txBox="1"/>
          <p:nvPr/>
        </p:nvSpPr>
        <p:spPr>
          <a:xfrm>
            <a:off x="762000" y="6191250"/>
            <a:ext cx="106680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64748B"/>
                </a:solidFill>
                <a:latin typeface="Segoe UI"/>
                <a:ea typeface="Segoe UI"/>
              </a:rPr>
              <a:t>Eligible voters only; a repeat attempt is rejected by the service and by the database constraint.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3CBCB0E-E33E-4968-91AA-F3F11396E81A}"/>
              </a:ext>
            </a:extLst>
          </p:cNvPr>
          <p:cNvSpPr txBox="1"/>
          <p:nvPr/>
        </p:nvSpPr>
        <p:spPr>
          <a:xfrm>
            <a:off x="762000" y="457200"/>
            <a:ext cx="59055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400" b="1">
                <a:solidFill>
                  <a:srgbClr val="1D4ED8"/>
                </a:solidFill>
                <a:latin typeface="Segoe UI"/>
                <a:ea typeface="Segoe UI"/>
              </a:rPr>
              <a:t>RESULTS  ·  SAMPLE DEMONSTRATION DATA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B139E48-64D5-4396-805A-6786FB0F44BA}"/>
              </a:ext>
            </a:extLst>
          </p:cNvPr>
          <p:cNvSpPr txBox="1"/>
          <p:nvPr/>
        </p:nvSpPr>
        <p:spPr>
          <a:xfrm>
            <a:off x="742950" y="742950"/>
            <a:ext cx="10668000" cy="6667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11827"/>
                </a:solidFill>
                <a:latin typeface="Segoe UI"/>
                <a:ea typeface="Segoe UI"/>
              </a:rPr>
              <a:t>Results are computed from saved ballots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9413414-8E43-42BB-A56D-360EEB7D9B79}"/>
              </a:ext>
            </a:extLst>
          </p:cNvPr>
          <p:cNvSpPr txBox="1"/>
          <p:nvPr/>
        </p:nvSpPr>
        <p:spPr>
          <a:xfrm>
            <a:off x="762000" y="1428750"/>
            <a:ext cx="10668000" cy="381000"/>
          </a:xfrm>
        </p:spPr>
        <p:txBody>
          <a:bodyPr wrap="square" lIns="0" tIns="0" rIns="0" bIns="0" rtlCol="0" anchor="t"/>
          <a:lstStyle/>
          <a:p>
            <a:pPr algn="l"/>
            <a:r>
              <a:rPr sz="1700">
                <a:solidFill>
                  <a:srgbClr val="475569"/>
                </a:solidFill>
                <a:latin typeface="Segoe UI"/>
                <a:ea typeface="Segoe UI"/>
              </a:rPr>
              <a:t>Counts, percentages and turnout come from ResultsService — never from hard-coded UI values.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7F51E94F-03E1-4212-A757-82D2F9281F4D}"/>
              </a:ext>
            </a:extLst>
          </p:cNvPr>
          <p:cNvSpPr/>
          <p:nvPr/>
        </p:nvSpPr>
        <p:spPr>
          <a:xfrm>
            <a:off x="762000" y="2000250"/>
            <a:ext cx="2381250" cy="10953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rtlCol="0"/>
          <a:lstStyle/>
          <a:p>
            <a:endParaRPr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97BEA097-378A-482D-BA60-7F741F597490}"/>
              </a:ext>
            </a:extLst>
          </p:cNvPr>
          <p:cNvSpPr/>
          <p:nvPr/>
        </p:nvSpPr>
        <p:spPr>
          <a:xfrm>
            <a:off x="3333750" y="2000250"/>
            <a:ext cx="2381250" cy="10953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rtlCol="0"/>
          <a:lstStyle/>
          <a:p>
            <a:endParaRPr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F68ECCF6-315E-4874-8D6D-0C8BCB1A6FFD}"/>
              </a:ext>
            </a:extLst>
          </p:cNvPr>
          <p:cNvSpPr/>
          <p:nvPr/>
        </p:nvSpPr>
        <p:spPr>
          <a:xfrm>
            <a:off x="762000" y="3286125"/>
            <a:ext cx="2381250" cy="10953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rtlCol="0"/>
          <a:lstStyle/>
          <a:p>
            <a:endParaRPr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41E7F485-B6F8-4658-B93B-8BAC7819F9C6}"/>
              </a:ext>
            </a:extLst>
          </p:cNvPr>
          <p:cNvSpPr/>
          <p:nvPr/>
        </p:nvSpPr>
        <p:spPr>
          <a:xfrm>
            <a:off x="3333750" y="3286125"/>
            <a:ext cx="2381250" cy="10953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rtlCol="0"/>
          <a:lstStyle/>
          <a:p>
            <a:endParaRPr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3DEAFA6-60B4-47F5-B760-8ECCD264E549}"/>
              </a:ext>
            </a:extLst>
          </p:cNvPr>
          <p:cNvSpPr txBox="1"/>
          <p:nvPr/>
        </p:nvSpPr>
        <p:spPr>
          <a:xfrm>
            <a:off x="952500" y="2152650"/>
            <a:ext cx="2000250" cy="190500"/>
          </a:xfrm>
        </p:spPr>
        <p:txBody>
          <a:bodyPr wrap="square" lIns="0" tIns="0" rIns="0" bIns="0" rtlCol="0" anchor="t"/>
          <a:lstStyle/>
          <a:p>
            <a:pPr algn="l"/>
            <a:r>
              <a:rPr sz="1200" b="1">
                <a:solidFill>
                  <a:srgbClr val="64748B"/>
                </a:solidFill>
                <a:latin typeface="Segoe UI"/>
                <a:ea typeface="Segoe UI"/>
              </a:rPr>
              <a:t>ELIGIBLE VOTERS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A278F52-0650-4B97-A0F4-3F6DBFE69E47}"/>
              </a:ext>
            </a:extLst>
          </p:cNvPr>
          <p:cNvSpPr txBox="1"/>
          <p:nvPr/>
        </p:nvSpPr>
        <p:spPr>
          <a:xfrm>
            <a:off x="3524250" y="2152650"/>
            <a:ext cx="2000250" cy="190500"/>
          </a:xfrm>
        </p:spPr>
        <p:txBody>
          <a:bodyPr wrap="square" lIns="0" tIns="0" rIns="0" bIns="0" rtlCol="0" anchor="t"/>
          <a:lstStyle/>
          <a:p>
            <a:pPr algn="l"/>
            <a:r>
              <a:rPr sz="1200" b="1">
                <a:solidFill>
                  <a:srgbClr val="64748B"/>
                </a:solidFill>
                <a:latin typeface="Segoe UI"/>
                <a:ea typeface="Segoe UI"/>
              </a:rPr>
              <a:t>SAMPLE BALLOTS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5342064-086E-44B4-B2E3-BF441EB828F8}"/>
              </a:ext>
            </a:extLst>
          </p:cNvPr>
          <p:cNvSpPr txBox="1"/>
          <p:nvPr/>
        </p:nvSpPr>
        <p:spPr>
          <a:xfrm>
            <a:off x="952500" y="3438525"/>
            <a:ext cx="2000250" cy="190500"/>
          </a:xfrm>
        </p:spPr>
        <p:txBody>
          <a:bodyPr wrap="square" lIns="0" tIns="0" rIns="0" bIns="0" rtlCol="0" anchor="t"/>
          <a:lstStyle/>
          <a:p>
            <a:pPr algn="l"/>
            <a:r>
              <a:rPr sz="1200" b="1">
                <a:solidFill>
                  <a:srgbClr val="64748B"/>
                </a:solidFill>
                <a:latin typeface="Segoe UI"/>
                <a:ea typeface="Segoe UI"/>
              </a:rPr>
              <a:t>TURNOUT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F2FD335-7B56-4E37-8DD7-748829475E00}"/>
              </a:ext>
            </a:extLst>
          </p:cNvPr>
          <p:cNvSpPr txBox="1"/>
          <p:nvPr/>
        </p:nvSpPr>
        <p:spPr>
          <a:xfrm>
            <a:off x="3524250" y="3438525"/>
            <a:ext cx="2000250" cy="190500"/>
          </a:xfrm>
        </p:spPr>
        <p:txBody>
          <a:bodyPr wrap="square" lIns="0" tIns="0" rIns="0" bIns="0" rtlCol="0" anchor="t"/>
          <a:lstStyle/>
          <a:p>
            <a:pPr algn="l"/>
            <a:r>
              <a:rPr sz="1200" b="1">
                <a:solidFill>
                  <a:srgbClr val="64748B"/>
                </a:solidFill>
                <a:latin typeface="Segoe UI"/>
                <a:ea typeface="Segoe UI"/>
              </a:rPr>
              <a:t>WINNER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0543576-262D-4536-96CF-1266F00E32AE}"/>
              </a:ext>
            </a:extLst>
          </p:cNvPr>
          <p:cNvSpPr txBox="1"/>
          <p:nvPr/>
        </p:nvSpPr>
        <p:spPr>
          <a:xfrm>
            <a:off x="952500" y="2400300"/>
            <a:ext cx="2000250" cy="579120"/>
          </a:xfrm>
        </p:spPr>
        <p:txBody>
          <a:bodyPr wrap="square" lIns="0" tIns="0" rIns="0" bIns="0" rtlCol="0" anchor="t"/>
          <a:lstStyle/>
          <a:p>
            <a:pPr algn="l"/>
            <a:r>
              <a:rPr sz="3800" b="1">
                <a:solidFill>
                  <a:srgbClr val="1D4ED8"/>
                </a:solidFill>
                <a:latin typeface="Segoe UI"/>
                <a:ea typeface="Segoe UI"/>
              </a:rPr>
              <a:t>10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722917D-82B4-4EE3-82C0-E28937999293}"/>
              </a:ext>
            </a:extLst>
          </p:cNvPr>
          <p:cNvSpPr txBox="1"/>
          <p:nvPr/>
        </p:nvSpPr>
        <p:spPr>
          <a:xfrm>
            <a:off x="3524250" y="2400300"/>
            <a:ext cx="2000250" cy="579120"/>
          </a:xfrm>
        </p:spPr>
        <p:txBody>
          <a:bodyPr wrap="square" lIns="0" tIns="0" rIns="0" bIns="0" rtlCol="0" anchor="t"/>
          <a:lstStyle/>
          <a:p>
            <a:pPr algn="l"/>
            <a:r>
              <a:rPr sz="3800" b="1">
                <a:solidFill>
                  <a:srgbClr val="1D4ED8"/>
                </a:solidFill>
                <a:latin typeface="Segoe UI"/>
                <a:ea typeface="Segoe UI"/>
              </a:rPr>
              <a:t>6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437CDAB-9E25-43A9-85E4-9629AE0625D0}"/>
              </a:ext>
            </a:extLst>
          </p:cNvPr>
          <p:cNvSpPr txBox="1"/>
          <p:nvPr/>
        </p:nvSpPr>
        <p:spPr>
          <a:xfrm>
            <a:off x="952500" y="3686175"/>
            <a:ext cx="2000250" cy="579120"/>
          </a:xfrm>
        </p:spPr>
        <p:txBody>
          <a:bodyPr wrap="square" lIns="0" tIns="0" rIns="0" bIns="0" rtlCol="0" anchor="t"/>
          <a:lstStyle/>
          <a:p>
            <a:pPr algn="l"/>
            <a:r>
              <a:rPr sz="3800" b="1">
                <a:solidFill>
                  <a:srgbClr val="1D4ED8"/>
                </a:solidFill>
                <a:latin typeface="Segoe UI"/>
                <a:ea typeface="Segoe UI"/>
              </a:rPr>
              <a:t>60.0%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A13F124-AF79-4AE2-AE94-1A4148917BDC}"/>
              </a:ext>
            </a:extLst>
          </p:cNvPr>
          <p:cNvSpPr txBox="1"/>
          <p:nvPr/>
        </p:nvSpPr>
        <p:spPr>
          <a:xfrm>
            <a:off x="3524250" y="3733800"/>
            <a:ext cx="2000250" cy="552450"/>
          </a:xfrm>
        </p:spPr>
        <p:txBody>
          <a:bodyPr wrap="square" lIns="0" tIns="0" rIns="0" bIns="0" rtlCol="0" anchor="t"/>
          <a:lstStyle/>
          <a:p>
            <a:pPr algn="l"/>
            <a:r>
              <a:rPr sz="2200" b="1">
                <a:solidFill>
                  <a:srgbClr val="0F7B4F"/>
                </a:solidFill>
                <a:latin typeface="Segoe UI"/>
                <a:ea typeface="Segoe UI"/>
              </a:rPr>
              <a:t>Aarav Sharma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96770474-583B-4724-9F9D-4DE92DDEB0FB}"/>
              </a:ext>
            </a:extLst>
          </p:cNvPr>
          <p:cNvSpPr txBox="1"/>
          <p:nvPr/>
        </p:nvSpPr>
        <p:spPr>
          <a:xfrm>
            <a:off x="762000" y="4686300"/>
            <a:ext cx="5143500" cy="10477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8000"/>
              </a:lnSpc>
            </a:pPr>
            <a:r>
              <a:rPr sz="1500">
                <a:solidFill>
                  <a:srgbClr val="334155"/>
                </a:solidFill>
                <a:latin typeface="Segoe UI"/>
                <a:ea typeface="Segoe UI"/>
              </a:rPr>
              <a:t>Ties are reported explicitly; zero ballots yield 0.0% without division by zero. The administrator can export the same figures as TXT or CSV.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A32DF85C-F394-4F52-9C12-5977C16880D9}"/>
              </a:ext>
            </a:extLst>
          </p:cNvPr>
          <p:cNvSpPr/>
          <p:nvPr/>
        </p:nvSpPr>
        <p:spPr>
          <a:xfrm>
            <a:off x="6153150" y="1962150"/>
            <a:ext cx="54102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</a:ln>
        </p:spPr>
        <p:txBody>
          <a:bodyPr wrap="square" rtlCol="0"/>
          <a:lstStyle/>
          <a:p>
            <a:endParaRPr/>
          </a:p>
        </p:txBody>
      </p:sp>
      <p:pic>
        <p:nvPicPr>
          <p:cNvPr id="20" name="Picture 20">
            <a:extLst>
              <a:ext uri="{FF2B5EF4-FFF2-40B4-BE49-F238E27FC236}">
                <a16:creationId xmlns:a16="http://schemas.microsoft.com/office/drawing/2014/main" id="{B241DF5E-D766-467C-83E3-108059FD27E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286500" y="2095500"/>
            <a:ext cx="5143500" cy="2933700"/>
          </a:xfrm>
          <a:prstGeom prst="rect">
            <a:avLst/>
          </a:prstGeom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11F79520-F09C-4BB4-A54E-2E3615D39432}"/>
              </a:ext>
            </a:extLst>
          </p:cNvPr>
          <p:cNvSpPr txBox="1"/>
          <p:nvPr/>
        </p:nvSpPr>
        <p:spPr>
          <a:xfrm>
            <a:off x="6286500" y="5257800"/>
            <a:ext cx="51435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64748B"/>
                </a:solidFill>
                <a:latin typeface="Segoe UI"/>
                <a:ea typeface="Segoe UI"/>
              </a:rPr>
              <a:t>Administrator results — LIVE PREVIEW while voting is open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0AAD1E30-D721-448D-A0D6-9D95E23F7668}"/>
              </a:ext>
            </a:extLst>
          </p:cNvPr>
          <p:cNvSpPr txBox="1"/>
          <p:nvPr/>
        </p:nvSpPr>
        <p:spPr>
          <a:xfrm>
            <a:off x="762000" y="6134100"/>
            <a:ext cx="10668000" cy="381000"/>
          </a:xfrm>
        </p:spPr>
        <p:txBody>
          <a:bodyPr wrap="square" lIns="0" tIns="0" rIns="0" bIns="0" rtlCol="0" anchor="t"/>
          <a:lstStyle/>
          <a:p>
            <a:pPr algn="l"/>
            <a:r>
              <a:rPr sz="1300">
                <a:solidFill>
                  <a:srgbClr val="64748B"/>
                </a:solidFill>
                <a:latin typeface="Segoe UI"/>
                <a:ea typeface="Segoe UI"/>
              </a:rPr>
              <a:t>Sample demonstration database: 10 voters, 3 candidates and 6 ballots. A normal first launch contains zero votes.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D0B39A6C-5BEC-4CD3-8223-A05A9F8C3E58}"/>
              </a:ext>
            </a:extLst>
          </p:cNvPr>
          <p:cNvSpPr txBox="1"/>
          <p:nvPr/>
        </p:nvSpPr>
        <p:spPr>
          <a:xfrm>
            <a:off x="762000" y="628650"/>
            <a:ext cx="4953000" cy="228600"/>
          </a:xfrm>
        </p:spPr>
        <p:txBody>
          <a:bodyPr wrap="square" lIns="0" tIns="0" rIns="0" bIns="0" rtlCol="0" anchor="t"/>
          <a:lstStyle/>
          <a:p>
            <a:pPr algn="l"/>
            <a:r>
              <a:rPr sz="1400" b="1">
                <a:solidFill>
                  <a:srgbClr val="93B4FF"/>
                </a:solidFill>
                <a:latin typeface="Segoe UI"/>
                <a:ea typeface="Segoe UI"/>
              </a:rPr>
              <a:t>VERIFICATION AND LIMITS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93F7847-29E3-469B-A4C8-CB0B20B858AC}"/>
              </a:ext>
            </a:extLst>
          </p:cNvPr>
          <p:cNvSpPr txBox="1"/>
          <p:nvPr/>
        </p:nvSpPr>
        <p:spPr>
          <a:xfrm>
            <a:off x="723900" y="1028700"/>
            <a:ext cx="4572000" cy="16192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sz="9600" b="1">
                <a:solidFill>
                  <a:srgbClr val="F8FAFC"/>
                </a:solidFill>
                <a:latin typeface="Segoe UI"/>
                <a:ea typeface="Segoe UI"/>
              </a:rPr>
              <a:t>59/59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6D634E1-685E-4F19-B70A-9E594A6C3ECC}"/>
              </a:ext>
            </a:extLst>
          </p:cNvPr>
          <p:cNvSpPr txBox="1"/>
          <p:nvPr/>
        </p:nvSpPr>
        <p:spPr>
          <a:xfrm>
            <a:off x="762000" y="2686050"/>
            <a:ext cx="4762500" cy="381000"/>
          </a:xfrm>
        </p:spPr>
        <p:txBody>
          <a:bodyPr wrap="square" lIns="0" tIns="0" rIns="0" bIns="0" rtlCol="0" anchor="t"/>
          <a:lstStyle/>
          <a:p>
            <a:pPr algn="l"/>
            <a:r>
              <a:rPr sz="2400" b="1">
                <a:solidFill>
                  <a:srgbClr val="F8FAFC"/>
                </a:solidFill>
                <a:latin typeface="Segoe UI"/>
                <a:ea typeface="Segoe UI"/>
              </a:rPr>
              <a:t>automated tests passed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C8BA765-99B3-4BF6-83C3-31BAF191F97B}"/>
              </a:ext>
            </a:extLst>
          </p:cNvPr>
          <p:cNvSpPr txBox="1"/>
          <p:nvPr/>
        </p:nvSpPr>
        <p:spPr>
          <a:xfrm>
            <a:off x="762000" y="3124200"/>
            <a:ext cx="5143500" cy="285750"/>
          </a:xfrm>
        </p:spPr>
        <p:txBody>
          <a:bodyPr wrap="square" lIns="0" tIns="0" rIns="0" bIns="0" rtlCol="0" anchor="t"/>
          <a:lstStyle/>
          <a:p>
            <a:pPr algn="l"/>
            <a:r>
              <a:rPr sz="1500">
                <a:solidFill>
                  <a:srgbClr val="93B4FF"/>
                </a:solidFill>
                <a:latin typeface="Segoe UI"/>
                <a:ea typeface="Segoe UI"/>
              </a:rPr>
              <a:t>0 failures · 0 errors · 0 skipped · Maven BUILD SUCCESS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54768CF-5228-4BF4-A7BF-7E2B3F138AE8}"/>
              </a:ext>
            </a:extLst>
          </p:cNvPr>
          <p:cNvSpPr txBox="1"/>
          <p:nvPr/>
        </p:nvSpPr>
        <p:spPr>
          <a:xfrm>
            <a:off x="6286500" y="1066800"/>
            <a:ext cx="5143500" cy="365760"/>
          </a:xfrm>
        </p:spPr>
        <p:txBody>
          <a:bodyPr wrap="square" lIns="0" tIns="0" rIns="0" bIns="0" rtlCol="0" anchor="t"/>
          <a:lstStyle/>
          <a:p>
            <a:pPr algn="l"/>
            <a:r>
              <a:rPr sz="2400" b="1">
                <a:solidFill>
                  <a:srgbClr val="F8FAFC"/>
                </a:solidFill>
                <a:latin typeface="Segoe UI"/>
                <a:ea typeface="Segoe UI"/>
              </a:rPr>
              <a:t>Known limits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5386F8A-B48E-4A2D-9120-746C1418E83A}"/>
              </a:ext>
            </a:extLst>
          </p:cNvPr>
          <p:cNvSpPr txBox="1"/>
          <p:nvPr/>
        </p:nvSpPr>
        <p:spPr>
          <a:xfrm>
            <a:off x="6286500" y="1600200"/>
            <a:ext cx="5143500" cy="3143250"/>
          </a:xfrm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18000"/>
              </a:lnSpc>
              <a:spcAft>
                <a:spcPts val="1600"/>
              </a:spcAft>
              <a:buChar char="•"/>
            </a:pPr>
            <a:r>
              <a:rPr sz="1500">
                <a:solidFill>
                  <a:srgbClr val="C7D2E8"/>
                </a:solidFill>
                <a:latin typeface="Segoe UI"/>
                <a:ea typeface="Segoe UI"/>
              </a:rPr>
              <a:t>Ballot secrecy cannot be guaranteed against full database access.</a:t>
            </a:r>
          </a:p>
          <a:p>
            <a:pPr marL="228600" indent="-228600" algn="l">
              <a:lnSpc>
                <a:spcPct val="118000"/>
              </a:lnSpc>
              <a:spcAft>
                <a:spcPts val="1600"/>
              </a:spcAft>
              <a:buChar char="•"/>
            </a:pPr>
            <a:r>
              <a:rPr sz="1500">
                <a:solidFill>
                  <a:srgbClr val="C7D2E8"/>
                </a:solidFill>
                <a:latin typeface="Segoe UI"/>
                <a:ea typeface="Segoe UI"/>
              </a:rPr>
              <a:t>Local files are protected only by operating-system permissions.</a:t>
            </a:r>
          </a:p>
          <a:p>
            <a:pPr marL="228600" indent="-228600" algn="l">
              <a:lnSpc>
                <a:spcPct val="118000"/>
              </a:lnSpc>
              <a:spcAft>
                <a:spcPts val="1600"/>
              </a:spcAft>
              <a:buChar char="•"/>
            </a:pPr>
            <a:r>
              <a:rPr sz="1500">
                <a:solidFill>
                  <a:srgbClr val="C7D2E8"/>
                </a:solidFill>
                <a:latin typeface="Segoe UI"/>
                <a:ea typeface="Segoe UI"/>
              </a:rPr>
              <a:t>Demonstration credentials are for assessment, not a real election.</a:t>
            </a:r>
          </a:p>
          <a:p>
            <a:pPr marL="228600" indent="-228600" algn="l">
              <a:lnSpc>
                <a:spcPct val="118000"/>
              </a:lnSpc>
              <a:spcAft>
                <a:spcPts val="0"/>
              </a:spcAft>
              <a:buChar char="•"/>
            </a:pPr>
            <a:r>
              <a:rPr sz="1500">
                <a:solidFill>
                  <a:srgbClr val="C7D2E8"/>
                </a:solidFill>
                <a:latin typeface="Segoe UI"/>
                <a:ea typeface="Segoe UI"/>
              </a:rPr>
              <a:t>No cryptographic receipts or independent audit trail.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278BF6E-74BE-41B6-B4BB-F5F363339AD7}"/>
              </a:ext>
            </a:extLst>
          </p:cNvPr>
          <p:cNvSpPr txBox="1"/>
          <p:nvPr/>
        </p:nvSpPr>
        <p:spPr>
          <a:xfrm>
            <a:off x="762000" y="4953000"/>
            <a:ext cx="7620000" cy="476250"/>
          </a:xfrm>
        </p:spPr>
        <p:txBody>
          <a:bodyPr wrap="square" lIns="0" tIns="0" rIns="0" bIns="0" rtlCol="0" anchor="t"/>
          <a:lstStyle/>
          <a:p>
            <a:pPr algn="l"/>
            <a:r>
              <a:rPr sz="3000" b="1" dirty="0">
                <a:solidFill>
                  <a:srgbClr val="F8FAFC"/>
                </a:solidFill>
                <a:latin typeface="Segoe UI"/>
                <a:ea typeface="Segoe UI"/>
              </a:rPr>
              <a:t>Thank </a:t>
            </a:r>
            <a:r>
              <a:rPr sz="3000" b="1">
                <a:solidFill>
                  <a:srgbClr val="F8FAFC"/>
                </a:solidFill>
                <a:latin typeface="Segoe UI"/>
                <a:ea typeface="Segoe UI"/>
              </a:rPr>
              <a:t>you 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05533C1-519B-49F8-A8DC-7F8582C5891A}"/>
              </a:ext>
            </a:extLst>
          </p:cNvPr>
          <p:cNvSpPr txBox="1"/>
          <p:nvPr/>
        </p:nvSpPr>
        <p:spPr>
          <a:xfrm>
            <a:off x="762000" y="5905500"/>
            <a:ext cx="9525000" cy="247650"/>
          </a:xfrm>
        </p:spPr>
        <p:txBody>
          <a:bodyPr wrap="square" lIns="0" tIns="0" rIns="0" bIns="0" rtlCol="0" anchor="t"/>
          <a:lstStyle/>
          <a:p>
            <a:pPr algn="l"/>
            <a:r>
              <a:rPr sz="1400">
                <a:solidFill>
                  <a:srgbClr val="8FA3C4"/>
                </a:solidFill>
                <a:latin typeface="Segoe UI"/>
                <a:ea typeface="Segoe UI"/>
              </a:rPr>
              <a:t>VoteSecure · academic local prototype · Semester 3 Object-Oriented Programming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928</Words>
  <Application>Microsoft Office PowerPoint</Application>
  <PresentationFormat>Widescreen</PresentationFormat>
  <Paragraphs>128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Segoe UI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Hadi Irfan R</cp:lastModifiedBy>
  <cp:revision>1</cp:revision>
  <dcterms:modified xsi:type="dcterms:W3CDTF">2026-10-28T17:48:52Z</dcterms:modified>
</cp:coreProperties>
</file>